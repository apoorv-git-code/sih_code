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bri (MS)" charset="1" panose="020F0502020204030204"/>
      <p:regular r:id="rId12"/>
    </p:embeddedFont>
    <p:embeddedFont>
      <p:font typeface="Calibri (MS) Bold" charset="1" panose="020F0702030404030204"/>
      <p:regular r:id="rId13"/>
    </p:embeddedFont>
    <p:embeddedFont>
      <p:font typeface="Georgia Bold" charset="1" panose="020408020504050202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27013"/>
            <a:ext cx="18336273" cy="10259987"/>
            <a:chOff x="0" y="0"/>
            <a:chExt cx="24448364" cy="13679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8388" cy="13679932"/>
            </a:xfrm>
            <a:custGeom>
              <a:avLst/>
              <a:gdLst/>
              <a:ahLst/>
              <a:cxnLst/>
              <a:rect r="r" b="b" t="t" l="l"/>
              <a:pathLst>
                <a:path h="13679932" w="24448388">
                  <a:moveTo>
                    <a:pt x="0" y="0"/>
                  </a:moveTo>
                  <a:lnTo>
                    <a:pt x="24448388" y="0"/>
                  </a:lnTo>
                  <a:lnTo>
                    <a:pt x="24448388" y="13679932"/>
                  </a:lnTo>
                  <a:lnTo>
                    <a:pt x="0" y="13679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7192" y="369760"/>
            <a:ext cx="2428875" cy="782955"/>
            <a:chOff x="0" y="0"/>
            <a:chExt cx="3238500" cy="1043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8500" cy="1043940"/>
            </a:xfrm>
            <a:custGeom>
              <a:avLst/>
              <a:gdLst/>
              <a:ahLst/>
              <a:cxnLst/>
              <a:rect r="r" b="b" t="t" l="l"/>
              <a:pathLst>
                <a:path h="1043940" w="3238500">
                  <a:moveTo>
                    <a:pt x="0" y="521970"/>
                  </a:moveTo>
                  <a:cubicBezTo>
                    <a:pt x="0" y="233680"/>
                    <a:pt x="724916" y="0"/>
                    <a:pt x="1619250" y="0"/>
                  </a:cubicBezTo>
                  <a:cubicBezTo>
                    <a:pt x="2513584" y="0"/>
                    <a:pt x="3238500" y="233680"/>
                    <a:pt x="3238500" y="521970"/>
                  </a:cubicBezTo>
                  <a:cubicBezTo>
                    <a:pt x="3238500" y="810260"/>
                    <a:pt x="2513584" y="1043940"/>
                    <a:pt x="1619250" y="1043940"/>
                  </a:cubicBezTo>
                  <a:cubicBezTo>
                    <a:pt x="724916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B66B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238500" cy="1072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RunTime Terror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4352" y="1837373"/>
            <a:ext cx="8189595" cy="7640955"/>
            <a:chOff x="0" y="0"/>
            <a:chExt cx="10919460" cy="101879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19460" cy="10187940"/>
            </a:xfrm>
            <a:custGeom>
              <a:avLst/>
              <a:gdLst/>
              <a:ahLst/>
              <a:cxnLst/>
              <a:rect r="r" b="b" t="t" l="l"/>
              <a:pathLst>
                <a:path h="10187940" w="10919460">
                  <a:moveTo>
                    <a:pt x="0" y="305689"/>
                  </a:moveTo>
                  <a:cubicBezTo>
                    <a:pt x="0" y="136779"/>
                    <a:pt x="136779" y="0"/>
                    <a:pt x="305689" y="0"/>
                  </a:cubicBezTo>
                  <a:lnTo>
                    <a:pt x="10613771" y="0"/>
                  </a:lnTo>
                  <a:cubicBezTo>
                    <a:pt x="10782553" y="0"/>
                    <a:pt x="10919460" y="136779"/>
                    <a:pt x="10919460" y="305689"/>
                  </a:cubicBezTo>
                  <a:lnTo>
                    <a:pt x="10919460" y="9882251"/>
                  </a:lnTo>
                  <a:cubicBezTo>
                    <a:pt x="10919460" y="10051034"/>
                    <a:pt x="10782681" y="10187940"/>
                    <a:pt x="10613771" y="10187940"/>
                  </a:cubicBezTo>
                  <a:lnTo>
                    <a:pt x="305689" y="10187940"/>
                  </a:lnTo>
                  <a:cubicBezTo>
                    <a:pt x="136779" y="10187940"/>
                    <a:pt x="0" y="10051161"/>
                    <a:pt x="0" y="9882251"/>
                  </a:cubicBezTo>
                  <a:close/>
                </a:path>
              </a:pathLst>
            </a:custGeom>
            <a:solidFill>
              <a:srgbClr val="FDF2F2"/>
            </a:solidFill>
            <a:ln w="28575" cap="sq">
              <a:solidFill>
                <a:srgbClr val="C0392B"/>
              </a:solidFill>
              <a:prstDash val="dash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914650" y="1824228"/>
            <a:ext cx="3429000" cy="685800"/>
            <a:chOff x="0" y="0"/>
            <a:chExt cx="4572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4114800" y="0"/>
                  </a:lnTo>
                  <a:cubicBezTo>
                    <a:pt x="4367276" y="0"/>
                    <a:pt x="4572000" y="204724"/>
                    <a:pt x="4572000" y="457200"/>
                  </a:cubicBezTo>
                  <a:cubicBezTo>
                    <a:pt x="4572000" y="709676"/>
                    <a:pt x="4367276" y="914400"/>
                    <a:pt x="4114800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914650" y="1824228"/>
            <a:ext cx="3429000" cy="685800"/>
            <a:chOff x="0" y="0"/>
            <a:chExt cx="45720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5720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PROBLEM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2688" y="2948940"/>
            <a:ext cx="576072" cy="576072"/>
            <a:chOff x="0" y="0"/>
            <a:chExt cx="768096" cy="7680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BE1D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32688" y="2948940"/>
            <a:ext cx="576072" cy="576072"/>
            <a:chOff x="0" y="0"/>
            <a:chExt cx="768096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✖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14132" y="2948940"/>
            <a:ext cx="466344" cy="466344"/>
            <a:chOff x="0" y="0"/>
            <a:chExt cx="621792" cy="6217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✖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2688" y="4128516"/>
            <a:ext cx="576072" cy="576072"/>
            <a:chOff x="0" y="0"/>
            <a:chExt cx="768096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BE1D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2688" y="4128516"/>
            <a:ext cx="576072" cy="576072"/>
            <a:chOff x="0" y="0"/>
            <a:chExt cx="768096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✖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14132" y="4128516"/>
            <a:ext cx="466344" cy="466344"/>
            <a:chOff x="0" y="0"/>
            <a:chExt cx="621792" cy="621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✖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2688" y="5308092"/>
            <a:ext cx="576072" cy="576072"/>
            <a:chOff x="0" y="0"/>
            <a:chExt cx="768096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BE1D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2688" y="5308092"/>
            <a:ext cx="576072" cy="576072"/>
            <a:chOff x="0" y="0"/>
            <a:chExt cx="768096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✖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914132" y="5308092"/>
            <a:ext cx="466344" cy="466344"/>
            <a:chOff x="0" y="0"/>
            <a:chExt cx="621792" cy="621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✖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688" y="6487668"/>
            <a:ext cx="576072" cy="576072"/>
            <a:chOff x="0" y="0"/>
            <a:chExt cx="768096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BE1D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2688" y="6487668"/>
            <a:ext cx="576072" cy="576072"/>
            <a:chOff x="0" y="0"/>
            <a:chExt cx="768096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✖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914132" y="6487668"/>
            <a:ext cx="466344" cy="466344"/>
            <a:chOff x="0" y="0"/>
            <a:chExt cx="621792" cy="6217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✖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2688" y="7667244"/>
            <a:ext cx="576072" cy="576072"/>
            <a:chOff x="0" y="0"/>
            <a:chExt cx="768096" cy="7680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BE1D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32688" y="7667244"/>
            <a:ext cx="576072" cy="576072"/>
            <a:chOff x="0" y="0"/>
            <a:chExt cx="768096" cy="7680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✖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914132" y="7667244"/>
            <a:ext cx="466344" cy="466344"/>
            <a:chOff x="0" y="0"/>
            <a:chExt cx="621792" cy="6217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✖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2600" y="1851088"/>
            <a:ext cx="8230743" cy="7640955"/>
            <a:chOff x="0" y="0"/>
            <a:chExt cx="10974324" cy="101879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4324" cy="10187940"/>
            </a:xfrm>
            <a:custGeom>
              <a:avLst/>
              <a:gdLst/>
              <a:ahLst/>
              <a:cxnLst/>
              <a:rect r="r" b="b" t="t" l="l"/>
              <a:pathLst>
                <a:path h="10187940" w="10974324">
                  <a:moveTo>
                    <a:pt x="0" y="305689"/>
                  </a:moveTo>
                  <a:cubicBezTo>
                    <a:pt x="0" y="136779"/>
                    <a:pt x="136779" y="0"/>
                    <a:pt x="305689" y="0"/>
                  </a:cubicBezTo>
                  <a:lnTo>
                    <a:pt x="10668635" y="0"/>
                  </a:lnTo>
                  <a:cubicBezTo>
                    <a:pt x="10837418" y="0"/>
                    <a:pt x="10974324" y="136779"/>
                    <a:pt x="10974324" y="305689"/>
                  </a:cubicBezTo>
                  <a:lnTo>
                    <a:pt x="10974324" y="9882251"/>
                  </a:lnTo>
                  <a:cubicBezTo>
                    <a:pt x="10974324" y="10051034"/>
                    <a:pt x="10837545" y="10187940"/>
                    <a:pt x="10668635" y="10187940"/>
                  </a:cubicBezTo>
                  <a:lnTo>
                    <a:pt x="305689" y="10187940"/>
                  </a:lnTo>
                  <a:cubicBezTo>
                    <a:pt x="136779" y="10187940"/>
                    <a:pt x="0" y="10051161"/>
                    <a:pt x="0" y="9882251"/>
                  </a:cubicBezTo>
                  <a:close/>
                </a:path>
              </a:pathLst>
            </a:custGeom>
            <a:solidFill>
              <a:srgbClr val="F0FDF4"/>
            </a:solidFill>
            <a:ln w="28575" cap="sq">
              <a:solidFill>
                <a:srgbClr val="2F8F5B"/>
              </a:solidFill>
              <a:prstDash val="dash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919204" y="1824228"/>
            <a:ext cx="3429000" cy="685800"/>
            <a:chOff x="0" y="0"/>
            <a:chExt cx="457200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lnTo>
                    <a:pt x="4114800" y="0"/>
                  </a:lnTo>
                  <a:cubicBezTo>
                    <a:pt x="4367276" y="0"/>
                    <a:pt x="4572000" y="204724"/>
                    <a:pt x="4572000" y="457200"/>
                  </a:cubicBezTo>
                  <a:cubicBezTo>
                    <a:pt x="4572000" y="709676"/>
                    <a:pt x="4367276" y="914400"/>
                    <a:pt x="4114800" y="914400"/>
                  </a:cubicBezTo>
                  <a:lnTo>
                    <a:pt x="457200" y="914400"/>
                  </a:ln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F8F5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919204" y="1844802"/>
            <a:ext cx="3429000" cy="685800"/>
            <a:chOff x="0" y="0"/>
            <a:chExt cx="45720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45720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OUR SOLUTION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916668" y="2880360"/>
            <a:ext cx="576072" cy="576072"/>
            <a:chOff x="0" y="0"/>
            <a:chExt cx="768096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DF4E6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928412" y="2890647"/>
            <a:ext cx="576072" cy="576072"/>
            <a:chOff x="0" y="0"/>
            <a:chExt cx="768096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916668" y="3867912"/>
            <a:ext cx="576072" cy="576072"/>
            <a:chOff x="0" y="0"/>
            <a:chExt cx="768096" cy="7680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DF4E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915687" y="3881628"/>
            <a:ext cx="576072" cy="576072"/>
            <a:chOff x="0" y="0"/>
            <a:chExt cx="768096" cy="7680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916668" y="4855464"/>
            <a:ext cx="576072" cy="576072"/>
            <a:chOff x="0" y="0"/>
            <a:chExt cx="768096" cy="7680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DF4E6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944100" y="4855464"/>
            <a:ext cx="576072" cy="576072"/>
            <a:chOff x="0" y="0"/>
            <a:chExt cx="768096" cy="7680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916668" y="5843016"/>
            <a:ext cx="576072" cy="576072"/>
            <a:chOff x="0" y="0"/>
            <a:chExt cx="768096" cy="7680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DF4E6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928412" y="5880735"/>
            <a:ext cx="576072" cy="576072"/>
            <a:chOff x="0" y="0"/>
            <a:chExt cx="768096" cy="76809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916668" y="6830568"/>
            <a:ext cx="576072" cy="576072"/>
            <a:chOff x="0" y="0"/>
            <a:chExt cx="768096" cy="7680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DF4E6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893265" y="6836664"/>
            <a:ext cx="576072" cy="576072"/>
            <a:chOff x="0" y="0"/>
            <a:chExt cx="768096" cy="7680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916668" y="7818120"/>
            <a:ext cx="576072" cy="576072"/>
            <a:chOff x="0" y="0"/>
            <a:chExt cx="768096" cy="7680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DF4E6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916668" y="7818120"/>
            <a:ext cx="576072" cy="576072"/>
            <a:chOff x="0" y="0"/>
            <a:chExt cx="768096" cy="76809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8572500" y="5074920"/>
            <a:ext cx="1234440" cy="822960"/>
            <a:chOff x="0" y="0"/>
            <a:chExt cx="1645920" cy="10972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64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14300"/>
              <a:ext cx="164592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»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0" y="9683496"/>
            <a:ext cx="18287543" cy="603504"/>
            <a:chOff x="0" y="0"/>
            <a:chExt cx="24383390" cy="8046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383364" cy="804672"/>
            </a:xfrm>
            <a:custGeom>
              <a:avLst/>
              <a:gdLst/>
              <a:ahLst/>
              <a:cxnLst/>
              <a:rect r="r" b="b" t="t" l="l"/>
              <a:pathLst>
                <a:path h="80467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75CA6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411480" y="9858289"/>
            <a:ext cx="10972800" cy="253917"/>
            <a:chOff x="0" y="0"/>
            <a:chExt cx="14630400" cy="33855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4630400" cy="338554"/>
            </a:xfrm>
            <a:custGeom>
              <a:avLst/>
              <a:gdLst/>
              <a:ahLst/>
              <a:cxnLst/>
              <a:rect r="r" b="b" t="t" l="l"/>
              <a:pathLst>
                <a:path h="33855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38554"/>
                  </a:lnTo>
                  <a:lnTo>
                    <a:pt x="0" y="3385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2033" r="0" b="-79203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14630400" cy="367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@SIH Idea submission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6915943" y="9683496"/>
            <a:ext cx="960120" cy="603504"/>
            <a:chOff x="0" y="0"/>
            <a:chExt cx="1280160" cy="8046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80160" cy="804672"/>
            </a:xfrm>
            <a:custGeom>
              <a:avLst/>
              <a:gdLst/>
              <a:ahLst/>
              <a:cxnLst/>
              <a:rect r="r" b="b" t="t" l="l"/>
              <a:pathLst>
                <a:path h="804672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128016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15105235" y="0"/>
            <a:ext cx="3182308" cy="1403642"/>
          </a:xfrm>
          <a:custGeom>
            <a:avLst/>
            <a:gdLst/>
            <a:ahLst/>
            <a:cxnLst/>
            <a:rect r="r" b="b" t="t" l="l"/>
            <a:pathLst>
              <a:path h="1403642" w="3182308">
                <a:moveTo>
                  <a:pt x="0" y="0"/>
                </a:moveTo>
                <a:lnTo>
                  <a:pt x="3182308" y="0"/>
                </a:lnTo>
                <a:lnTo>
                  <a:pt x="3182308" y="1403642"/>
                </a:lnTo>
                <a:lnTo>
                  <a:pt x="0" y="1403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19" r="0" b="-2319"/>
            </a:stretch>
          </a:blipFill>
        </p:spPr>
      </p:sp>
      <p:sp>
        <p:nvSpPr>
          <p:cNvPr name="TextBox 103" id="103"/>
          <p:cNvSpPr txBox="true"/>
          <p:nvPr/>
        </p:nvSpPr>
        <p:spPr>
          <a:xfrm rot="0">
            <a:off x="2057400" y="429387"/>
            <a:ext cx="14127480" cy="56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1D4E4A"/>
                </a:solidFill>
                <a:latin typeface="Georgia Bold"/>
                <a:ea typeface="Georgia Bold"/>
                <a:cs typeface="Georgia Bold"/>
                <a:sym typeface="Georgia Bold"/>
              </a:rPr>
              <a:t>  </a:t>
            </a:r>
            <a:r>
              <a:rPr lang="en-US" sz="360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PROPOSED SOLUTION  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2057400" y="1077087"/>
            <a:ext cx="1412748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4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·  ·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783080" y="2842260"/>
            <a:ext cx="5760720" cy="12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Paper-based healthcare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Lost records &amp; fragmented history across sub-centres &amp; district hospitals.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783080" y="4021836"/>
            <a:ext cx="5760720" cy="12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Long waiting times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Hours wasted traveling 40+ km only to queue in the sun.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783080" y="5201412"/>
            <a:ext cx="5760720" cy="12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Poor connectivity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crashes &amp; data loss in low-network rural pockets.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783080" y="6380988"/>
            <a:ext cx="5760720" cy="12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digital literacy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Complex text-heavy interfaces unusable for frontline workers.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783080" y="7560564"/>
            <a:ext cx="5760720" cy="12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Lost referral records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High patient drop-off between primary health care tiers.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0767060" y="2801112"/>
            <a:ext cx="6624828" cy="10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Voice-first interface</a:t>
            </a:r>
          </a:p>
          <a:p>
            <a:pPr algn="l">
              <a:lnSpc>
                <a:spcPts val="1744"/>
              </a:lnSpc>
            </a:pPr>
            <a:r>
              <a:rPr lang="en-US" sz="1453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Speak or tap icons in local languages (MR/HI/EN); zero typing needed.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0767060" y="3788664"/>
            <a:ext cx="6624828" cy="10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Sunita Tai AI Guide</a:t>
            </a:r>
          </a:p>
          <a:p>
            <a:pPr algn="l">
              <a:lnSpc>
                <a:spcPts val="1744"/>
              </a:lnSpc>
            </a:pPr>
            <a:r>
              <a:rPr lang="en-US" sz="1453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Spoken interactive voice assistant guiding villagers &amp; staff step-by-step.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0767060" y="4776216"/>
            <a:ext cx="6624828" cy="10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Instant teleconsultation</a:t>
            </a:r>
          </a:p>
          <a:p>
            <a:pPr algn="l">
              <a:lnSpc>
                <a:spcPts val="1744"/>
              </a:lnSpc>
            </a:pPr>
            <a:r>
              <a:rPr lang="en-US" sz="1453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 with PHC doctors via audio/video call with local ASHA support.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0767060" y="5763768"/>
            <a:ext cx="6624828" cy="10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appointments</a:t>
            </a:r>
          </a:p>
          <a:p>
            <a:pPr algn="l">
              <a:lnSpc>
                <a:spcPts val="1744"/>
              </a:lnSpc>
            </a:pPr>
            <a:r>
              <a:rPr lang="en-US" sz="1453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Pre-book slots and view live token queue status from home.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0767060" y="6751320"/>
            <a:ext cx="6624828" cy="10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 healthcare access</a:t>
            </a:r>
          </a:p>
          <a:p>
            <a:pPr algn="l">
              <a:lnSpc>
                <a:spcPts val="1744"/>
              </a:lnSpc>
            </a:pPr>
            <a:r>
              <a:rPr lang="en-US" sz="1453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Local SQLite caching with background auto-cloud sync when network returns.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0767060" y="7738872"/>
            <a:ext cx="6624828" cy="102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End-to-end patient journey</a:t>
            </a:r>
          </a:p>
          <a:p>
            <a:pPr algn="l">
              <a:lnSpc>
                <a:spcPts val="1744"/>
              </a:lnSpc>
            </a:pPr>
            <a:r>
              <a:rPr lang="en-US" sz="1453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ABDM/FHIR QR Health Passport linking triage, referrals, labs, &amp; care.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709" y="-428711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831655" y="2606040"/>
            <a:ext cx="6216256" cy="3408426"/>
          </a:xfrm>
          <a:custGeom>
            <a:avLst/>
            <a:gdLst/>
            <a:ahLst/>
            <a:cxnLst/>
            <a:rect r="r" b="b" t="t" l="l"/>
            <a:pathLst>
              <a:path h="3408426" w="6216256">
                <a:moveTo>
                  <a:pt x="0" y="0"/>
                </a:moveTo>
                <a:lnTo>
                  <a:pt x="6216256" y="0"/>
                </a:lnTo>
                <a:lnTo>
                  <a:pt x="6216256" y="3408426"/>
                </a:lnTo>
                <a:lnTo>
                  <a:pt x="0" y="3408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" t="0" r="-22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97192" y="369760"/>
            <a:ext cx="2428875" cy="782955"/>
            <a:chOff x="0" y="0"/>
            <a:chExt cx="3238500" cy="10439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8500" cy="1043940"/>
            </a:xfrm>
            <a:custGeom>
              <a:avLst/>
              <a:gdLst/>
              <a:ahLst/>
              <a:cxnLst/>
              <a:rect r="r" b="b" t="t" l="l"/>
              <a:pathLst>
                <a:path h="1043940" w="3238500">
                  <a:moveTo>
                    <a:pt x="0" y="521970"/>
                  </a:moveTo>
                  <a:cubicBezTo>
                    <a:pt x="0" y="233680"/>
                    <a:pt x="724916" y="0"/>
                    <a:pt x="1619250" y="0"/>
                  </a:cubicBezTo>
                  <a:cubicBezTo>
                    <a:pt x="2513584" y="0"/>
                    <a:pt x="3238500" y="233680"/>
                    <a:pt x="3238500" y="521970"/>
                  </a:cubicBezTo>
                  <a:cubicBezTo>
                    <a:pt x="3238500" y="810260"/>
                    <a:pt x="2513584" y="1043940"/>
                    <a:pt x="1619250" y="1043940"/>
                  </a:cubicBezTo>
                  <a:cubicBezTo>
                    <a:pt x="724916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B66B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238500" cy="1072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RunTime Terror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9368" y="7269004"/>
            <a:ext cx="2835592" cy="1875473"/>
            <a:chOff x="0" y="0"/>
            <a:chExt cx="3780790" cy="25006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80790" cy="2500630"/>
            </a:xfrm>
            <a:custGeom>
              <a:avLst/>
              <a:gdLst/>
              <a:ahLst/>
              <a:cxnLst/>
              <a:rect r="r" b="b" t="t" l="l"/>
              <a:pathLst>
                <a:path h="2500630" w="3780790">
                  <a:moveTo>
                    <a:pt x="0" y="300101"/>
                  </a:moveTo>
                  <a:cubicBezTo>
                    <a:pt x="0" y="134366"/>
                    <a:pt x="134366" y="0"/>
                    <a:pt x="300101" y="0"/>
                  </a:cubicBezTo>
                  <a:lnTo>
                    <a:pt x="3480689" y="0"/>
                  </a:lnTo>
                  <a:cubicBezTo>
                    <a:pt x="3646424" y="0"/>
                    <a:pt x="3780790" y="134366"/>
                    <a:pt x="3780790" y="300101"/>
                  </a:cubicBezTo>
                  <a:lnTo>
                    <a:pt x="3780790" y="2200529"/>
                  </a:lnTo>
                  <a:cubicBezTo>
                    <a:pt x="3780790" y="2366264"/>
                    <a:pt x="3646424" y="2500630"/>
                    <a:pt x="3480689" y="2500630"/>
                  </a:cubicBezTo>
                  <a:lnTo>
                    <a:pt x="300101" y="2500630"/>
                  </a:lnTo>
                  <a:cubicBezTo>
                    <a:pt x="134366" y="2500630"/>
                    <a:pt x="0" y="2366264"/>
                    <a:pt x="0" y="2200529"/>
                  </a:cubicBezTo>
                  <a:close/>
                </a:path>
              </a:pathLst>
            </a:custGeom>
            <a:solidFill>
              <a:srgbClr val="EAF1FA"/>
            </a:solidFill>
            <a:ln w="23812" cap="sq">
              <a:solidFill>
                <a:srgbClr val="1C3F6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21003" y="7837408"/>
            <a:ext cx="2592324" cy="738664"/>
            <a:chOff x="0" y="0"/>
            <a:chExt cx="3456432" cy="9848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56430" cy="984886"/>
            </a:xfrm>
            <a:custGeom>
              <a:avLst/>
              <a:gdLst/>
              <a:ahLst/>
              <a:cxnLst/>
              <a:rect r="r" b="b" t="t" l="l"/>
              <a:pathLst>
                <a:path h="984886" w="3456430">
                  <a:moveTo>
                    <a:pt x="0" y="0"/>
                  </a:moveTo>
                  <a:lnTo>
                    <a:pt x="3456430" y="0"/>
                  </a:lnTo>
                  <a:lnTo>
                    <a:pt x="3456430" y="984886"/>
                  </a:lnTo>
                  <a:lnTo>
                    <a:pt x="0" y="9848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" r="0" b="-183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456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Frontline Field Entry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(ASHA/ANM)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323055" y="7280910"/>
            <a:ext cx="301752" cy="1851660"/>
            <a:chOff x="0" y="0"/>
            <a:chExt cx="402336" cy="2468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2336" cy="2468880"/>
            </a:xfrm>
            <a:custGeom>
              <a:avLst/>
              <a:gdLst/>
              <a:ahLst/>
              <a:cxnLst/>
              <a:rect r="r" b="b" t="t" l="l"/>
              <a:pathLst>
                <a:path h="2468880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7317" t="0" r="-73731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2336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612443" y="7269004"/>
            <a:ext cx="2835592" cy="1875473"/>
            <a:chOff x="0" y="0"/>
            <a:chExt cx="3780790" cy="25006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0790" cy="2500630"/>
            </a:xfrm>
            <a:custGeom>
              <a:avLst/>
              <a:gdLst/>
              <a:ahLst/>
              <a:cxnLst/>
              <a:rect r="r" b="b" t="t" l="l"/>
              <a:pathLst>
                <a:path h="2500630" w="3780790">
                  <a:moveTo>
                    <a:pt x="0" y="300101"/>
                  </a:moveTo>
                  <a:cubicBezTo>
                    <a:pt x="0" y="134366"/>
                    <a:pt x="134366" y="0"/>
                    <a:pt x="300101" y="0"/>
                  </a:cubicBezTo>
                  <a:lnTo>
                    <a:pt x="3480689" y="0"/>
                  </a:lnTo>
                  <a:cubicBezTo>
                    <a:pt x="3646424" y="0"/>
                    <a:pt x="3780790" y="134366"/>
                    <a:pt x="3780790" y="300101"/>
                  </a:cubicBezTo>
                  <a:lnTo>
                    <a:pt x="3780790" y="2200529"/>
                  </a:lnTo>
                  <a:cubicBezTo>
                    <a:pt x="3780790" y="2366264"/>
                    <a:pt x="3646424" y="2500630"/>
                    <a:pt x="3480689" y="2500630"/>
                  </a:cubicBezTo>
                  <a:lnTo>
                    <a:pt x="300101" y="2500630"/>
                  </a:lnTo>
                  <a:cubicBezTo>
                    <a:pt x="134366" y="2500630"/>
                    <a:pt x="0" y="2366264"/>
                    <a:pt x="0" y="2200529"/>
                  </a:cubicBezTo>
                  <a:close/>
                </a:path>
              </a:pathLst>
            </a:custGeom>
            <a:solidFill>
              <a:srgbClr val="EAF1FA"/>
            </a:solidFill>
            <a:ln w="23812" cap="sq">
              <a:solidFill>
                <a:srgbClr val="1C3F6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734306" y="7870479"/>
            <a:ext cx="2592324" cy="738664"/>
            <a:chOff x="0" y="0"/>
            <a:chExt cx="3456432" cy="9848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56430" cy="984886"/>
            </a:xfrm>
            <a:custGeom>
              <a:avLst/>
              <a:gdLst/>
              <a:ahLst/>
              <a:cxnLst/>
              <a:rect r="r" b="b" t="t" l="l"/>
              <a:pathLst>
                <a:path h="984886" w="3456430">
                  <a:moveTo>
                    <a:pt x="0" y="0"/>
                  </a:moveTo>
                  <a:lnTo>
                    <a:pt x="3456430" y="0"/>
                  </a:lnTo>
                  <a:lnTo>
                    <a:pt x="3456430" y="984886"/>
                  </a:lnTo>
                  <a:lnTo>
                    <a:pt x="0" y="9848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" r="0" b="-183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456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 Encrypted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Cache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36587" y="7280910"/>
            <a:ext cx="301752" cy="1851660"/>
            <a:chOff x="0" y="0"/>
            <a:chExt cx="402336" cy="2468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336" cy="2468880"/>
            </a:xfrm>
            <a:custGeom>
              <a:avLst/>
              <a:gdLst/>
              <a:ahLst/>
              <a:cxnLst/>
              <a:rect r="r" b="b" t="t" l="l"/>
              <a:pathLst>
                <a:path h="2468880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7317" t="0" r="-7373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02336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725518" y="7269004"/>
            <a:ext cx="2835592" cy="1875473"/>
            <a:chOff x="0" y="0"/>
            <a:chExt cx="3780790" cy="25006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80790" cy="2500630"/>
            </a:xfrm>
            <a:custGeom>
              <a:avLst/>
              <a:gdLst/>
              <a:ahLst/>
              <a:cxnLst/>
              <a:rect r="r" b="b" t="t" l="l"/>
              <a:pathLst>
                <a:path h="2500630" w="3780790">
                  <a:moveTo>
                    <a:pt x="0" y="300101"/>
                  </a:moveTo>
                  <a:cubicBezTo>
                    <a:pt x="0" y="134366"/>
                    <a:pt x="134366" y="0"/>
                    <a:pt x="300101" y="0"/>
                  </a:cubicBezTo>
                  <a:lnTo>
                    <a:pt x="3480689" y="0"/>
                  </a:lnTo>
                  <a:cubicBezTo>
                    <a:pt x="3646424" y="0"/>
                    <a:pt x="3780790" y="134366"/>
                    <a:pt x="3780790" y="300101"/>
                  </a:cubicBezTo>
                  <a:lnTo>
                    <a:pt x="3780790" y="2200529"/>
                  </a:lnTo>
                  <a:cubicBezTo>
                    <a:pt x="3780790" y="2366264"/>
                    <a:pt x="3646424" y="2500630"/>
                    <a:pt x="3480689" y="2500630"/>
                  </a:cubicBezTo>
                  <a:lnTo>
                    <a:pt x="300101" y="2500630"/>
                  </a:lnTo>
                  <a:cubicBezTo>
                    <a:pt x="134366" y="2500630"/>
                    <a:pt x="0" y="2366264"/>
                    <a:pt x="0" y="2200529"/>
                  </a:cubicBezTo>
                  <a:close/>
                </a:path>
              </a:pathLst>
            </a:custGeom>
            <a:solidFill>
              <a:srgbClr val="EAF1FA"/>
            </a:solidFill>
            <a:ln w="23812" cap="sq">
              <a:solidFill>
                <a:srgbClr val="1C3F6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848067" y="7837408"/>
            <a:ext cx="2592324" cy="738664"/>
            <a:chOff x="0" y="0"/>
            <a:chExt cx="3456432" cy="9848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56430" cy="984886"/>
            </a:xfrm>
            <a:custGeom>
              <a:avLst/>
              <a:gdLst/>
              <a:ahLst/>
              <a:cxnLst/>
              <a:rect r="r" b="b" t="t" l="l"/>
              <a:pathLst>
                <a:path h="984886" w="3456430">
                  <a:moveTo>
                    <a:pt x="0" y="0"/>
                  </a:moveTo>
                  <a:lnTo>
                    <a:pt x="3456430" y="0"/>
                  </a:lnTo>
                  <a:lnTo>
                    <a:pt x="3456430" y="984886"/>
                  </a:lnTo>
                  <a:lnTo>
                    <a:pt x="0" y="9848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" r="0" b="-183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456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Auto-Sync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Hotspot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50119" y="7280910"/>
            <a:ext cx="301752" cy="1851660"/>
            <a:chOff x="0" y="0"/>
            <a:chExt cx="402336" cy="2468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2336" cy="2468880"/>
            </a:xfrm>
            <a:custGeom>
              <a:avLst/>
              <a:gdLst/>
              <a:ahLst/>
              <a:cxnLst/>
              <a:rect r="r" b="b" t="t" l="l"/>
              <a:pathLst>
                <a:path h="2468880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7317" t="0" r="-73731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02336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839964" y="7269004"/>
            <a:ext cx="2835592" cy="1875473"/>
            <a:chOff x="0" y="0"/>
            <a:chExt cx="3780790" cy="25006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80790" cy="2500630"/>
            </a:xfrm>
            <a:custGeom>
              <a:avLst/>
              <a:gdLst/>
              <a:ahLst/>
              <a:cxnLst/>
              <a:rect r="r" b="b" t="t" l="l"/>
              <a:pathLst>
                <a:path h="2500630" w="3780790">
                  <a:moveTo>
                    <a:pt x="0" y="300101"/>
                  </a:moveTo>
                  <a:cubicBezTo>
                    <a:pt x="0" y="134366"/>
                    <a:pt x="134366" y="0"/>
                    <a:pt x="300101" y="0"/>
                  </a:cubicBezTo>
                  <a:lnTo>
                    <a:pt x="3480689" y="0"/>
                  </a:lnTo>
                  <a:cubicBezTo>
                    <a:pt x="3646424" y="0"/>
                    <a:pt x="3780790" y="134366"/>
                    <a:pt x="3780790" y="300101"/>
                  </a:cubicBezTo>
                  <a:lnTo>
                    <a:pt x="3780790" y="2200529"/>
                  </a:lnTo>
                  <a:cubicBezTo>
                    <a:pt x="3780790" y="2366264"/>
                    <a:pt x="3646424" y="2500630"/>
                    <a:pt x="3480689" y="2500630"/>
                  </a:cubicBezTo>
                  <a:lnTo>
                    <a:pt x="300101" y="2500630"/>
                  </a:lnTo>
                  <a:cubicBezTo>
                    <a:pt x="134366" y="2500630"/>
                    <a:pt x="0" y="2366264"/>
                    <a:pt x="0" y="2200529"/>
                  </a:cubicBezTo>
                  <a:close/>
                </a:path>
              </a:pathLst>
            </a:custGeom>
            <a:solidFill>
              <a:srgbClr val="EAF1FA"/>
            </a:solidFill>
            <a:ln w="23812" cap="sq">
              <a:solidFill>
                <a:srgbClr val="1C3F6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961599" y="7837408"/>
            <a:ext cx="2592324" cy="738664"/>
            <a:chOff x="0" y="0"/>
            <a:chExt cx="3456432" cy="9848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56430" cy="984886"/>
            </a:xfrm>
            <a:custGeom>
              <a:avLst/>
              <a:gdLst/>
              <a:ahLst/>
              <a:cxnLst/>
              <a:rect r="r" b="b" t="t" l="l"/>
              <a:pathLst>
                <a:path h="984886" w="3456430">
                  <a:moveTo>
                    <a:pt x="0" y="0"/>
                  </a:moveTo>
                  <a:lnTo>
                    <a:pt x="3456430" y="0"/>
                  </a:lnTo>
                  <a:lnTo>
                    <a:pt x="3456430" y="984886"/>
                  </a:lnTo>
                  <a:lnTo>
                    <a:pt x="0" y="9848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" r="0" b="-1838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456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ABDM Health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Grid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663651" y="7280910"/>
            <a:ext cx="301752" cy="1851660"/>
            <a:chOff x="0" y="0"/>
            <a:chExt cx="402336" cy="2468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2336" cy="2468880"/>
            </a:xfrm>
            <a:custGeom>
              <a:avLst/>
              <a:gdLst/>
              <a:ahLst/>
              <a:cxnLst/>
              <a:rect r="r" b="b" t="t" l="l"/>
              <a:pathLst>
                <a:path h="2468880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7317" t="0" r="-73731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02336" cy="2506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953039" y="7269004"/>
            <a:ext cx="2835592" cy="1875473"/>
            <a:chOff x="0" y="0"/>
            <a:chExt cx="3780790" cy="25006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80790" cy="2500630"/>
            </a:xfrm>
            <a:custGeom>
              <a:avLst/>
              <a:gdLst/>
              <a:ahLst/>
              <a:cxnLst/>
              <a:rect r="r" b="b" t="t" l="l"/>
              <a:pathLst>
                <a:path h="2500630" w="3780790">
                  <a:moveTo>
                    <a:pt x="0" y="300101"/>
                  </a:moveTo>
                  <a:cubicBezTo>
                    <a:pt x="0" y="134366"/>
                    <a:pt x="134366" y="0"/>
                    <a:pt x="300101" y="0"/>
                  </a:cubicBezTo>
                  <a:lnTo>
                    <a:pt x="3480689" y="0"/>
                  </a:lnTo>
                  <a:cubicBezTo>
                    <a:pt x="3646424" y="0"/>
                    <a:pt x="3780790" y="134366"/>
                    <a:pt x="3780790" y="300101"/>
                  </a:cubicBezTo>
                  <a:lnTo>
                    <a:pt x="3780790" y="2200529"/>
                  </a:lnTo>
                  <a:cubicBezTo>
                    <a:pt x="3780790" y="2366264"/>
                    <a:pt x="3646424" y="2500630"/>
                    <a:pt x="3480689" y="2500630"/>
                  </a:cubicBezTo>
                  <a:lnTo>
                    <a:pt x="300101" y="2500630"/>
                  </a:lnTo>
                  <a:cubicBezTo>
                    <a:pt x="134366" y="2500630"/>
                    <a:pt x="0" y="2366264"/>
                    <a:pt x="0" y="2200529"/>
                  </a:cubicBezTo>
                  <a:close/>
                </a:path>
              </a:pathLst>
            </a:custGeom>
            <a:solidFill>
              <a:srgbClr val="EAF1FA"/>
            </a:solidFill>
            <a:ln w="23812" cap="sq">
              <a:solidFill>
                <a:srgbClr val="1C3F6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075131" y="7837408"/>
            <a:ext cx="2592324" cy="738664"/>
            <a:chOff x="0" y="0"/>
            <a:chExt cx="3456432" cy="98488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56430" cy="984886"/>
            </a:xfrm>
            <a:custGeom>
              <a:avLst/>
              <a:gdLst/>
              <a:ahLst/>
              <a:cxnLst/>
              <a:rect r="r" b="b" t="t" l="l"/>
              <a:pathLst>
                <a:path h="984886" w="3456430">
                  <a:moveTo>
                    <a:pt x="0" y="0"/>
                  </a:moveTo>
                  <a:lnTo>
                    <a:pt x="3456430" y="0"/>
                  </a:lnTo>
                  <a:lnTo>
                    <a:pt x="3456430" y="984886"/>
                  </a:lnTo>
                  <a:lnTo>
                    <a:pt x="0" y="9848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" r="0" b="-1838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456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District Hospital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Portal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0" y="9683496"/>
            <a:ext cx="18287543" cy="603504"/>
            <a:chOff x="0" y="0"/>
            <a:chExt cx="24383390" cy="8046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3364" cy="804672"/>
            </a:xfrm>
            <a:custGeom>
              <a:avLst/>
              <a:gdLst/>
              <a:ahLst/>
              <a:cxnLst/>
              <a:rect r="r" b="b" t="t" l="l"/>
              <a:pathLst>
                <a:path h="80467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75CA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11480" y="9858289"/>
            <a:ext cx="10972800" cy="253917"/>
            <a:chOff x="0" y="0"/>
            <a:chExt cx="14630400" cy="33855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0" cy="338554"/>
            </a:xfrm>
            <a:custGeom>
              <a:avLst/>
              <a:gdLst/>
              <a:ahLst/>
              <a:cxnLst/>
              <a:rect r="r" b="b" t="t" l="l"/>
              <a:pathLst>
                <a:path h="33855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38554"/>
                  </a:lnTo>
                  <a:lnTo>
                    <a:pt x="0" y="3385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2033" r="0" b="-79203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4630400" cy="367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@SIH Idea submission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915943" y="9683496"/>
            <a:ext cx="960120" cy="603504"/>
            <a:chOff x="0" y="0"/>
            <a:chExt cx="1280160" cy="8046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80160" cy="804672"/>
            </a:xfrm>
            <a:custGeom>
              <a:avLst/>
              <a:gdLst/>
              <a:ahLst/>
              <a:cxnLst/>
              <a:rect r="r" b="b" t="t" l="l"/>
              <a:pathLst>
                <a:path h="804672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28016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5256307" y="0"/>
            <a:ext cx="3031236" cy="1399032"/>
          </a:xfrm>
          <a:custGeom>
            <a:avLst/>
            <a:gdLst/>
            <a:ahLst/>
            <a:cxnLst/>
            <a:rect r="r" b="b" t="t" l="l"/>
            <a:pathLst>
              <a:path h="1399032" w="3031236">
                <a:moveTo>
                  <a:pt x="0" y="0"/>
                </a:moveTo>
                <a:lnTo>
                  <a:pt x="3031236" y="0"/>
                </a:lnTo>
                <a:lnTo>
                  <a:pt x="3031236" y="1399032"/>
                </a:lnTo>
                <a:lnTo>
                  <a:pt x="0" y="1399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2948940" y="429387"/>
            <a:ext cx="107670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TECHNICAL APPROACH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22960" y="1956435"/>
            <a:ext cx="8229600" cy="52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C3F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TECHNOLOGIES TO BE USED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2529840"/>
            <a:ext cx="10635106" cy="348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7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Frontend &amp; Mobile: </a:t>
            </a:r>
            <a:r>
              <a:rPr lang="en-US" sz="27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Cross-platform Web/PWA (Tailwind CSS, HTML5) optimized for low-cost Android phones.</a:t>
            </a:r>
          </a:p>
          <a:p>
            <a:pPr algn="l">
              <a:lnSpc>
                <a:spcPts val="3402"/>
              </a:lnSpc>
            </a:pPr>
            <a:r>
              <a:rPr lang="en-US" sz="27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Voice &amp; AI Engine: </a:t>
            </a:r>
            <a:r>
              <a:rPr lang="en-US" sz="27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Web Speech API for multilingual speech-to-text/TTS; local OCR (Tesseract.js) for ID scanning.</a:t>
            </a:r>
          </a:p>
          <a:p>
            <a:pPr algn="l">
              <a:lnSpc>
                <a:spcPts val="3402"/>
              </a:lnSpc>
            </a:pPr>
            <a:r>
              <a:rPr lang="en-US" sz="27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Data &amp; Interoperability: </a:t>
            </a:r>
            <a:r>
              <a:rPr lang="en-US" sz="27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ABDM API integrations, ABHA ID linkage, HL7 FHIR record schemas.</a:t>
            </a:r>
          </a:p>
          <a:p>
            <a:pPr algn="l">
              <a:lnSpc>
                <a:spcPts val="3402"/>
              </a:lnSpc>
            </a:pPr>
            <a:r>
              <a:rPr lang="en-US" sz="27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Offline Architecture: </a:t>
            </a:r>
            <a:r>
              <a:rPr lang="en-US" sz="27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IndexedDB local caching with automated delta-synchronization.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22960" y="6337392"/>
            <a:ext cx="10972800" cy="52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C3F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 &amp; IMPLEMENTATION FLOWCHART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7192" y="369760"/>
            <a:ext cx="2428875" cy="782955"/>
            <a:chOff x="0" y="0"/>
            <a:chExt cx="3238500" cy="1043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8500" cy="1043940"/>
            </a:xfrm>
            <a:custGeom>
              <a:avLst/>
              <a:gdLst/>
              <a:ahLst/>
              <a:cxnLst/>
              <a:rect r="r" b="b" t="t" l="l"/>
              <a:pathLst>
                <a:path h="1043940" w="3238500">
                  <a:moveTo>
                    <a:pt x="0" y="521970"/>
                  </a:moveTo>
                  <a:cubicBezTo>
                    <a:pt x="0" y="233680"/>
                    <a:pt x="724916" y="0"/>
                    <a:pt x="1619250" y="0"/>
                  </a:cubicBezTo>
                  <a:cubicBezTo>
                    <a:pt x="2513584" y="0"/>
                    <a:pt x="3238500" y="233680"/>
                    <a:pt x="3238500" y="521970"/>
                  </a:cubicBezTo>
                  <a:cubicBezTo>
                    <a:pt x="3238500" y="810260"/>
                    <a:pt x="2513584" y="1043940"/>
                    <a:pt x="1619250" y="1043940"/>
                  </a:cubicBezTo>
                  <a:cubicBezTo>
                    <a:pt x="724916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B66B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238500" cy="1072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RunTime Terror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48940" y="429387"/>
            <a:ext cx="107670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FEASIBILITY AND VIABILITY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5800" y="1520190"/>
            <a:ext cx="82296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C3F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ANALYSIS OF FEASIBILITY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85800" y="2125980"/>
            <a:ext cx="5417820" cy="2125980"/>
            <a:chOff x="0" y="0"/>
            <a:chExt cx="7223760" cy="2834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3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223760">
                  <a:moveTo>
                    <a:pt x="0" y="170053"/>
                  </a:moveTo>
                  <a:cubicBezTo>
                    <a:pt x="0" y="76200"/>
                    <a:pt x="76200" y="0"/>
                    <a:pt x="170053" y="0"/>
                  </a:cubicBezTo>
                  <a:lnTo>
                    <a:pt x="7053707" y="0"/>
                  </a:lnTo>
                  <a:cubicBezTo>
                    <a:pt x="7147687" y="0"/>
                    <a:pt x="7223760" y="76200"/>
                    <a:pt x="7223760" y="170053"/>
                  </a:cubicBezTo>
                  <a:lnTo>
                    <a:pt x="7223760" y="2664587"/>
                  </a:lnTo>
                  <a:cubicBezTo>
                    <a:pt x="7223760" y="2758567"/>
                    <a:pt x="7147560" y="2834640"/>
                    <a:pt x="7053707" y="2834640"/>
                  </a:cubicBezTo>
                  <a:lnTo>
                    <a:pt x="170053" y="2834640"/>
                  </a:lnTo>
                  <a:cubicBezTo>
                    <a:pt x="76200" y="2834640"/>
                    <a:pt x="0" y="2758440"/>
                    <a:pt x="0" y="2664587"/>
                  </a:cubicBezTo>
                  <a:close/>
                </a:path>
              </a:pathLst>
            </a:custGeom>
            <a:solidFill>
              <a:srgbClr val="EAF1F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7552" y="2325243"/>
            <a:ext cx="4814316" cy="167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C3F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Feasibility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Operates 100% offline with zero cloud dependency during field entry; lightweight memory footprint.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377940" y="2125980"/>
            <a:ext cx="5417820" cy="2125980"/>
            <a:chOff x="0" y="0"/>
            <a:chExt cx="7223760" cy="2834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3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223760">
                  <a:moveTo>
                    <a:pt x="0" y="170053"/>
                  </a:moveTo>
                  <a:cubicBezTo>
                    <a:pt x="0" y="76200"/>
                    <a:pt x="76200" y="0"/>
                    <a:pt x="170053" y="0"/>
                  </a:cubicBezTo>
                  <a:lnTo>
                    <a:pt x="7053707" y="0"/>
                  </a:lnTo>
                  <a:cubicBezTo>
                    <a:pt x="7147687" y="0"/>
                    <a:pt x="7223760" y="76200"/>
                    <a:pt x="7223760" y="170053"/>
                  </a:cubicBezTo>
                  <a:lnTo>
                    <a:pt x="7223760" y="2664587"/>
                  </a:lnTo>
                  <a:cubicBezTo>
                    <a:pt x="7223760" y="2758567"/>
                    <a:pt x="7147560" y="2834640"/>
                    <a:pt x="7053707" y="2834640"/>
                  </a:cubicBezTo>
                  <a:lnTo>
                    <a:pt x="170053" y="2834640"/>
                  </a:lnTo>
                  <a:cubicBezTo>
                    <a:pt x="76200" y="2834640"/>
                    <a:pt x="0" y="2758440"/>
                    <a:pt x="0" y="2664587"/>
                  </a:cubicBezTo>
                  <a:close/>
                </a:path>
              </a:pathLst>
            </a:custGeom>
            <a:solidFill>
              <a:srgbClr val="EAF1F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79692" y="2325243"/>
            <a:ext cx="4814316" cy="167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C3F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Operational Feasibility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Directly fits ASHA/ANM workflows with icon-driven, voice-supported local UI.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70080" y="2125980"/>
            <a:ext cx="5417820" cy="2125980"/>
            <a:chOff x="0" y="0"/>
            <a:chExt cx="7223760" cy="2834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3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223760">
                  <a:moveTo>
                    <a:pt x="0" y="170053"/>
                  </a:moveTo>
                  <a:cubicBezTo>
                    <a:pt x="0" y="76200"/>
                    <a:pt x="76200" y="0"/>
                    <a:pt x="170053" y="0"/>
                  </a:cubicBezTo>
                  <a:lnTo>
                    <a:pt x="7053707" y="0"/>
                  </a:lnTo>
                  <a:cubicBezTo>
                    <a:pt x="7147687" y="0"/>
                    <a:pt x="7223760" y="76200"/>
                    <a:pt x="7223760" y="170053"/>
                  </a:cubicBezTo>
                  <a:lnTo>
                    <a:pt x="7223760" y="2664587"/>
                  </a:lnTo>
                  <a:cubicBezTo>
                    <a:pt x="7223760" y="2758567"/>
                    <a:pt x="7147560" y="2834640"/>
                    <a:pt x="7053707" y="2834640"/>
                  </a:cubicBezTo>
                  <a:lnTo>
                    <a:pt x="170053" y="2834640"/>
                  </a:lnTo>
                  <a:cubicBezTo>
                    <a:pt x="76200" y="2834640"/>
                    <a:pt x="0" y="2758440"/>
                    <a:pt x="0" y="2664587"/>
                  </a:cubicBezTo>
                  <a:close/>
                </a:path>
              </a:pathLst>
            </a:custGeom>
            <a:solidFill>
              <a:srgbClr val="EAF1F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371832" y="2325243"/>
            <a:ext cx="4814316" cy="167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C3F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Financial Viability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Built on an open-source stack with minimal infrastructure cost per primary health centre.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5800" y="4537710"/>
            <a:ext cx="123444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C3F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CHALLENGES &amp; STRATEGIES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73894" y="5172742"/>
            <a:ext cx="8047672" cy="1189673"/>
            <a:chOff x="0" y="0"/>
            <a:chExt cx="10730230" cy="15862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30230" cy="1586230"/>
            </a:xfrm>
            <a:custGeom>
              <a:avLst/>
              <a:gdLst/>
              <a:ahLst/>
              <a:cxnLst/>
              <a:rect r="r" b="b" t="t" l="l"/>
              <a:pathLst>
                <a:path h="1586230" w="10730230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10603357" y="0"/>
                  </a:lnTo>
                  <a:cubicBezTo>
                    <a:pt x="10673461" y="0"/>
                    <a:pt x="10730230" y="56769"/>
                    <a:pt x="10730230" y="126873"/>
                  </a:cubicBezTo>
                  <a:lnTo>
                    <a:pt x="10730230" y="1459357"/>
                  </a:lnTo>
                  <a:cubicBezTo>
                    <a:pt x="10730230" y="1529461"/>
                    <a:pt x="10673461" y="1586230"/>
                    <a:pt x="10603357" y="1586230"/>
                  </a:cubicBezTo>
                  <a:lnTo>
                    <a:pt x="126873" y="1586230"/>
                  </a:lnTo>
                  <a:cubicBezTo>
                    <a:pt x="56769" y="1586230"/>
                    <a:pt x="0" y="1529461"/>
                    <a:pt x="0" y="1459357"/>
                  </a:cubicBezTo>
                  <a:close/>
                </a:path>
              </a:pathLst>
            </a:custGeom>
            <a:solidFill>
              <a:srgbClr val="FDF2F2"/>
            </a:solidFill>
            <a:ln w="23812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65860" y="5184648"/>
            <a:ext cx="7200900" cy="1165860"/>
            <a:chOff x="0" y="0"/>
            <a:chExt cx="960120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0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6012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Challenge: </a:t>
              </a: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 connectivity in remote tribal villages.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709660" y="5184648"/>
            <a:ext cx="754380" cy="1165860"/>
            <a:chOff x="0" y="0"/>
            <a:chExt cx="100584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00584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»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52134" y="5172742"/>
            <a:ext cx="8047672" cy="1189673"/>
            <a:chOff x="0" y="0"/>
            <a:chExt cx="10730230" cy="15862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30230" cy="1586230"/>
            </a:xfrm>
            <a:custGeom>
              <a:avLst/>
              <a:gdLst/>
              <a:ahLst/>
              <a:cxnLst/>
              <a:rect r="r" b="b" t="t" l="l"/>
              <a:pathLst>
                <a:path h="1586230" w="10730230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10603357" y="0"/>
                  </a:lnTo>
                  <a:cubicBezTo>
                    <a:pt x="10673461" y="0"/>
                    <a:pt x="10730230" y="56769"/>
                    <a:pt x="10730230" y="126873"/>
                  </a:cubicBezTo>
                  <a:lnTo>
                    <a:pt x="10730230" y="1459357"/>
                  </a:lnTo>
                  <a:cubicBezTo>
                    <a:pt x="10730230" y="1529461"/>
                    <a:pt x="10673461" y="1586230"/>
                    <a:pt x="10603357" y="1586230"/>
                  </a:cubicBezTo>
                  <a:lnTo>
                    <a:pt x="126873" y="1586230"/>
                  </a:lnTo>
                  <a:cubicBezTo>
                    <a:pt x="56769" y="1586230"/>
                    <a:pt x="0" y="1529461"/>
                    <a:pt x="0" y="1459357"/>
                  </a:cubicBezTo>
                  <a:close/>
                </a:path>
              </a:pathLst>
            </a:custGeom>
            <a:solidFill>
              <a:srgbClr val="F0FDF4"/>
            </a:solidFill>
            <a:ln w="23812" cap="sq">
              <a:solidFill>
                <a:srgbClr val="2F8F5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944100" y="5184648"/>
            <a:ext cx="7200900" cy="1165860"/>
            <a:chOff x="0" y="0"/>
            <a:chExt cx="960120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0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6012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Strategy: </a:t>
              </a: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Local SQLite storage with auto-sync mesh upon signal return.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3894" y="6612922"/>
            <a:ext cx="8047672" cy="1189673"/>
            <a:chOff x="0" y="0"/>
            <a:chExt cx="10730230" cy="15862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30230" cy="1586230"/>
            </a:xfrm>
            <a:custGeom>
              <a:avLst/>
              <a:gdLst/>
              <a:ahLst/>
              <a:cxnLst/>
              <a:rect r="r" b="b" t="t" l="l"/>
              <a:pathLst>
                <a:path h="1586230" w="10730230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10603357" y="0"/>
                  </a:lnTo>
                  <a:cubicBezTo>
                    <a:pt x="10673461" y="0"/>
                    <a:pt x="10730230" y="56769"/>
                    <a:pt x="10730230" y="126873"/>
                  </a:cubicBezTo>
                  <a:lnTo>
                    <a:pt x="10730230" y="1459357"/>
                  </a:lnTo>
                  <a:cubicBezTo>
                    <a:pt x="10730230" y="1529461"/>
                    <a:pt x="10673461" y="1586230"/>
                    <a:pt x="10603357" y="1586230"/>
                  </a:cubicBezTo>
                  <a:lnTo>
                    <a:pt x="126873" y="1586230"/>
                  </a:lnTo>
                  <a:cubicBezTo>
                    <a:pt x="56769" y="1586230"/>
                    <a:pt x="0" y="1529461"/>
                    <a:pt x="0" y="1459357"/>
                  </a:cubicBezTo>
                  <a:close/>
                </a:path>
              </a:pathLst>
            </a:custGeom>
            <a:solidFill>
              <a:srgbClr val="FDF2F2"/>
            </a:solidFill>
            <a:ln w="23812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6624828"/>
            <a:ext cx="7200900" cy="1165860"/>
            <a:chOff x="0" y="0"/>
            <a:chExt cx="960120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0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6012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Challenge: </a:t>
              </a: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 tech literacy among field staff.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09660" y="6624828"/>
            <a:ext cx="754380" cy="1165860"/>
            <a:chOff x="0" y="0"/>
            <a:chExt cx="100584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00584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»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52134" y="6612922"/>
            <a:ext cx="8047672" cy="1189673"/>
            <a:chOff x="0" y="0"/>
            <a:chExt cx="10730230" cy="15862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30230" cy="1586230"/>
            </a:xfrm>
            <a:custGeom>
              <a:avLst/>
              <a:gdLst/>
              <a:ahLst/>
              <a:cxnLst/>
              <a:rect r="r" b="b" t="t" l="l"/>
              <a:pathLst>
                <a:path h="1586230" w="10730230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10603357" y="0"/>
                  </a:lnTo>
                  <a:cubicBezTo>
                    <a:pt x="10673461" y="0"/>
                    <a:pt x="10730230" y="56769"/>
                    <a:pt x="10730230" y="126873"/>
                  </a:cubicBezTo>
                  <a:lnTo>
                    <a:pt x="10730230" y="1459357"/>
                  </a:lnTo>
                  <a:cubicBezTo>
                    <a:pt x="10730230" y="1529461"/>
                    <a:pt x="10673461" y="1586230"/>
                    <a:pt x="10603357" y="1586230"/>
                  </a:cubicBezTo>
                  <a:lnTo>
                    <a:pt x="126873" y="1586230"/>
                  </a:lnTo>
                  <a:cubicBezTo>
                    <a:pt x="56769" y="1586230"/>
                    <a:pt x="0" y="1529461"/>
                    <a:pt x="0" y="1459357"/>
                  </a:cubicBezTo>
                  <a:close/>
                </a:path>
              </a:pathLst>
            </a:custGeom>
            <a:solidFill>
              <a:srgbClr val="F0FDF4"/>
            </a:solidFill>
            <a:ln w="23812" cap="sq">
              <a:solidFill>
                <a:srgbClr val="2F8F5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944100" y="6624828"/>
            <a:ext cx="7200900" cy="1165860"/>
            <a:chOff x="0" y="0"/>
            <a:chExt cx="9601200" cy="1554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0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6012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Strategy: </a:t>
              </a: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Multilingual voice prompts (Marathi/Hindi) &amp; Sunita Tai guided tour.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73894" y="8053102"/>
            <a:ext cx="8047672" cy="1189673"/>
            <a:chOff x="0" y="0"/>
            <a:chExt cx="10730230" cy="158623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30230" cy="1586230"/>
            </a:xfrm>
            <a:custGeom>
              <a:avLst/>
              <a:gdLst/>
              <a:ahLst/>
              <a:cxnLst/>
              <a:rect r="r" b="b" t="t" l="l"/>
              <a:pathLst>
                <a:path h="1586230" w="10730230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10603357" y="0"/>
                  </a:lnTo>
                  <a:cubicBezTo>
                    <a:pt x="10673461" y="0"/>
                    <a:pt x="10730230" y="56769"/>
                    <a:pt x="10730230" y="126873"/>
                  </a:cubicBezTo>
                  <a:lnTo>
                    <a:pt x="10730230" y="1459357"/>
                  </a:lnTo>
                  <a:cubicBezTo>
                    <a:pt x="10730230" y="1529461"/>
                    <a:pt x="10673461" y="1586230"/>
                    <a:pt x="10603357" y="1586230"/>
                  </a:cubicBezTo>
                  <a:lnTo>
                    <a:pt x="126873" y="1586230"/>
                  </a:lnTo>
                  <a:cubicBezTo>
                    <a:pt x="56769" y="1586230"/>
                    <a:pt x="0" y="1529461"/>
                    <a:pt x="0" y="1459357"/>
                  </a:cubicBezTo>
                  <a:close/>
                </a:path>
              </a:pathLst>
            </a:custGeom>
            <a:solidFill>
              <a:srgbClr val="FDF2F2"/>
            </a:solidFill>
            <a:ln w="23812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65860" y="8065008"/>
            <a:ext cx="7200900" cy="1165860"/>
            <a:chOff x="0" y="0"/>
            <a:chExt cx="9601200" cy="1554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0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6012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Challenge: </a:t>
              </a: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 health data privacy.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709660" y="8065008"/>
            <a:ext cx="754380" cy="1165860"/>
            <a:chOff x="0" y="0"/>
            <a:chExt cx="1005840" cy="1554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58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8287" t="0" r="-14828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00584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»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52134" y="8053102"/>
            <a:ext cx="8047672" cy="1189673"/>
            <a:chOff x="0" y="0"/>
            <a:chExt cx="10730230" cy="158623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30230" cy="1586230"/>
            </a:xfrm>
            <a:custGeom>
              <a:avLst/>
              <a:gdLst/>
              <a:ahLst/>
              <a:cxnLst/>
              <a:rect r="r" b="b" t="t" l="l"/>
              <a:pathLst>
                <a:path h="1586230" w="10730230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10603357" y="0"/>
                  </a:lnTo>
                  <a:cubicBezTo>
                    <a:pt x="10673461" y="0"/>
                    <a:pt x="10730230" y="56769"/>
                    <a:pt x="10730230" y="126873"/>
                  </a:cubicBezTo>
                  <a:lnTo>
                    <a:pt x="10730230" y="1459357"/>
                  </a:lnTo>
                  <a:cubicBezTo>
                    <a:pt x="10730230" y="1529461"/>
                    <a:pt x="10673461" y="1586230"/>
                    <a:pt x="10603357" y="1586230"/>
                  </a:cubicBezTo>
                  <a:lnTo>
                    <a:pt x="126873" y="1586230"/>
                  </a:lnTo>
                  <a:cubicBezTo>
                    <a:pt x="56769" y="1586230"/>
                    <a:pt x="0" y="1529461"/>
                    <a:pt x="0" y="1459357"/>
                  </a:cubicBezTo>
                  <a:close/>
                </a:path>
              </a:pathLst>
            </a:custGeom>
            <a:solidFill>
              <a:srgbClr val="F0FDF4"/>
            </a:solidFill>
            <a:ln w="23812" cap="sq">
              <a:solidFill>
                <a:srgbClr val="2F8F5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944100" y="8065008"/>
            <a:ext cx="7200900" cy="1165860"/>
            <a:chOff x="0" y="0"/>
            <a:chExt cx="9601200" cy="15544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601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6012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F8F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Strategy: </a:t>
              </a:r>
              <a:r>
                <a:rPr lang="en-US" sz="17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Role-Based Access Control (RBAC) &amp; AES-256 local data encryption.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0" y="9683496"/>
            <a:ext cx="18287543" cy="603504"/>
            <a:chOff x="0" y="0"/>
            <a:chExt cx="24383390" cy="8046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3364" cy="804672"/>
            </a:xfrm>
            <a:custGeom>
              <a:avLst/>
              <a:gdLst/>
              <a:ahLst/>
              <a:cxnLst/>
              <a:rect r="r" b="b" t="t" l="l"/>
              <a:pathLst>
                <a:path h="80467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75CA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11480" y="9858289"/>
            <a:ext cx="10972800" cy="253917"/>
            <a:chOff x="0" y="0"/>
            <a:chExt cx="14630400" cy="33855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630400" cy="338554"/>
            </a:xfrm>
            <a:custGeom>
              <a:avLst/>
              <a:gdLst/>
              <a:ahLst/>
              <a:cxnLst/>
              <a:rect r="r" b="b" t="t" l="l"/>
              <a:pathLst>
                <a:path h="33855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38554"/>
                  </a:lnTo>
                  <a:lnTo>
                    <a:pt x="0" y="3385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2033" r="0" b="-79203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4630400" cy="367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@SIH Idea submission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915943" y="9683496"/>
            <a:ext cx="960120" cy="603504"/>
            <a:chOff x="0" y="0"/>
            <a:chExt cx="1280160" cy="8046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80160" cy="804672"/>
            </a:xfrm>
            <a:custGeom>
              <a:avLst/>
              <a:gdLst/>
              <a:ahLst/>
              <a:cxnLst/>
              <a:rect r="r" b="b" t="t" l="l"/>
              <a:pathLst>
                <a:path h="804672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28016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15095710" y="0"/>
            <a:ext cx="3182308" cy="1403642"/>
          </a:xfrm>
          <a:custGeom>
            <a:avLst/>
            <a:gdLst/>
            <a:ahLst/>
            <a:cxnLst/>
            <a:rect r="r" b="b" t="t" l="l"/>
            <a:pathLst>
              <a:path h="1403642" w="3182308">
                <a:moveTo>
                  <a:pt x="0" y="0"/>
                </a:moveTo>
                <a:lnTo>
                  <a:pt x="3182308" y="0"/>
                </a:lnTo>
                <a:lnTo>
                  <a:pt x="3182308" y="1403642"/>
                </a:lnTo>
                <a:lnTo>
                  <a:pt x="0" y="1403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19" r="0" b="-231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7192" y="369760"/>
            <a:ext cx="2428875" cy="782955"/>
            <a:chOff x="0" y="0"/>
            <a:chExt cx="3238500" cy="1043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8500" cy="1043940"/>
            </a:xfrm>
            <a:custGeom>
              <a:avLst/>
              <a:gdLst/>
              <a:ahLst/>
              <a:cxnLst/>
              <a:rect r="r" b="b" t="t" l="l"/>
              <a:pathLst>
                <a:path h="1043940" w="3238500">
                  <a:moveTo>
                    <a:pt x="0" y="521970"/>
                  </a:moveTo>
                  <a:cubicBezTo>
                    <a:pt x="0" y="233680"/>
                    <a:pt x="724916" y="0"/>
                    <a:pt x="1619250" y="0"/>
                  </a:cubicBezTo>
                  <a:cubicBezTo>
                    <a:pt x="2513584" y="0"/>
                    <a:pt x="3238500" y="233680"/>
                    <a:pt x="3238500" y="521970"/>
                  </a:cubicBezTo>
                  <a:cubicBezTo>
                    <a:pt x="3238500" y="810260"/>
                    <a:pt x="2513584" y="1043940"/>
                    <a:pt x="1619250" y="1043940"/>
                  </a:cubicBezTo>
                  <a:cubicBezTo>
                    <a:pt x="724916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B66B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238500" cy="1072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RunTime Terror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79992" y="2057400"/>
            <a:ext cx="22860" cy="6720840"/>
            <a:chOff x="0" y="0"/>
            <a:chExt cx="30480" cy="896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80" cy="8961120"/>
            </a:xfrm>
            <a:custGeom>
              <a:avLst/>
              <a:gdLst/>
              <a:ahLst/>
              <a:cxnLst/>
              <a:rect r="r" b="b" t="t" l="l"/>
              <a:pathLst>
                <a:path h="8961120" w="30480">
                  <a:moveTo>
                    <a:pt x="0" y="0"/>
                  </a:moveTo>
                  <a:lnTo>
                    <a:pt x="30480" y="0"/>
                  </a:lnTo>
                  <a:lnTo>
                    <a:pt x="30480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683496"/>
            <a:ext cx="18287543" cy="603504"/>
            <a:chOff x="0" y="0"/>
            <a:chExt cx="24383390" cy="80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3364" cy="804672"/>
            </a:xfrm>
            <a:custGeom>
              <a:avLst/>
              <a:gdLst/>
              <a:ahLst/>
              <a:cxnLst/>
              <a:rect r="r" b="b" t="t" l="l"/>
              <a:pathLst>
                <a:path h="80467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75CA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11480" y="9858289"/>
            <a:ext cx="10972800" cy="253917"/>
            <a:chOff x="0" y="0"/>
            <a:chExt cx="14630400" cy="3385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338554"/>
            </a:xfrm>
            <a:custGeom>
              <a:avLst/>
              <a:gdLst/>
              <a:ahLst/>
              <a:cxnLst/>
              <a:rect r="r" b="b" t="t" l="l"/>
              <a:pathLst>
                <a:path h="33855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38554"/>
                  </a:lnTo>
                  <a:lnTo>
                    <a:pt x="0" y="3385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2033" r="0" b="-79203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630400" cy="367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@SIH Idea submission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915943" y="9683496"/>
            <a:ext cx="960120" cy="603504"/>
            <a:chOff x="0" y="0"/>
            <a:chExt cx="1280160" cy="80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" cy="804672"/>
            </a:xfrm>
            <a:custGeom>
              <a:avLst/>
              <a:gdLst/>
              <a:ahLst/>
              <a:cxnLst/>
              <a:rect r="r" b="b" t="t" l="l"/>
              <a:pathLst>
                <a:path h="804672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8016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353193" y="5143500"/>
            <a:ext cx="7540030" cy="4190109"/>
          </a:xfrm>
          <a:custGeom>
            <a:avLst/>
            <a:gdLst/>
            <a:ahLst/>
            <a:cxnLst/>
            <a:rect r="r" b="b" t="t" l="l"/>
            <a:pathLst>
              <a:path h="4190109" w="7540030">
                <a:moveTo>
                  <a:pt x="0" y="0"/>
                </a:moveTo>
                <a:lnTo>
                  <a:pt x="7540030" y="0"/>
                </a:lnTo>
                <a:lnTo>
                  <a:pt x="7540030" y="4190109"/>
                </a:lnTo>
                <a:lnTo>
                  <a:pt x="0" y="4190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61" r="0" b="-96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948940" y="429387"/>
            <a:ext cx="107670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IMPACT AND BENEFITS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5800" y="1931670"/>
            <a:ext cx="81610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C3F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IMPACT ON TARGET AUDIENCE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5800" y="2804160"/>
            <a:ext cx="8161020" cy="227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Patients: </a:t>
            </a: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Saves 2-3 hours of wait time, cuts travel costs, provides audio dosage instructions in native language.</a:t>
            </a:r>
          </a:p>
          <a:p>
            <a:pPr algn="l">
              <a:lnSpc>
                <a:spcPts val="2970"/>
              </a:lnSpc>
            </a:pPr>
            <a:r>
              <a:rPr lang="en-US" sz="225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Frontline Workers (ASHAs/ANMs): </a:t>
            </a: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Eliminates paper registers and automatically flags high-risk maternal/chronic follow-ups.</a:t>
            </a:r>
          </a:p>
          <a:p>
            <a:pPr algn="l">
              <a:lnSpc>
                <a:spcPts val="2970"/>
              </a:lnSpc>
            </a:pPr>
            <a:r>
              <a:rPr lang="en-US" sz="225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Doctors &amp; Health Officials: </a:t>
            </a: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Gives instant access to patient medical histories and real-time district medicine inventory.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95460" y="1931670"/>
            <a:ext cx="81610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C3F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BENEFITS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5460" y="2804160"/>
            <a:ext cx="8161020" cy="227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25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Social: </a:t>
            </a: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Equal healthcare access for remote villages; improved maternal and child health outcomes.</a:t>
            </a:r>
          </a:p>
          <a:p>
            <a:pPr algn="l">
              <a:lnSpc>
                <a:spcPts val="2970"/>
              </a:lnSpc>
            </a:pPr>
            <a:r>
              <a:rPr lang="en-US" sz="225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Economic: </a:t>
            </a: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out-of-pocket medical travel expenses and prevents lost daily wages.</a:t>
            </a:r>
          </a:p>
          <a:p>
            <a:pPr algn="l">
              <a:lnSpc>
                <a:spcPts val="2970"/>
              </a:lnSpc>
            </a:pPr>
            <a:r>
              <a:rPr lang="en-US" sz="225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Systemic: </a:t>
            </a:r>
            <a:r>
              <a:rPr lang="en-US" sz="225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Stops duplicate lab tests through ABDM-compliant interoperable records.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105235" y="0"/>
            <a:ext cx="3182308" cy="1403642"/>
          </a:xfrm>
          <a:custGeom>
            <a:avLst/>
            <a:gdLst/>
            <a:ahLst/>
            <a:cxnLst/>
            <a:rect r="r" b="b" t="t" l="l"/>
            <a:pathLst>
              <a:path h="1403642" w="3182308">
                <a:moveTo>
                  <a:pt x="0" y="0"/>
                </a:moveTo>
                <a:lnTo>
                  <a:pt x="3182308" y="0"/>
                </a:lnTo>
                <a:lnTo>
                  <a:pt x="3182308" y="1403642"/>
                </a:lnTo>
                <a:lnTo>
                  <a:pt x="0" y="1403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19" r="0" b="-231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7192" y="369760"/>
            <a:ext cx="2428875" cy="782955"/>
            <a:chOff x="0" y="0"/>
            <a:chExt cx="3238500" cy="10439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8500" cy="1043940"/>
            </a:xfrm>
            <a:custGeom>
              <a:avLst/>
              <a:gdLst/>
              <a:ahLst/>
              <a:cxnLst/>
              <a:rect r="r" b="b" t="t" l="l"/>
              <a:pathLst>
                <a:path h="1043940" w="3238500">
                  <a:moveTo>
                    <a:pt x="0" y="521970"/>
                  </a:moveTo>
                  <a:cubicBezTo>
                    <a:pt x="0" y="233680"/>
                    <a:pt x="724916" y="0"/>
                    <a:pt x="1619250" y="0"/>
                  </a:cubicBezTo>
                  <a:cubicBezTo>
                    <a:pt x="2513584" y="0"/>
                    <a:pt x="3238500" y="233680"/>
                    <a:pt x="3238500" y="521970"/>
                  </a:cubicBezTo>
                  <a:cubicBezTo>
                    <a:pt x="3238500" y="810260"/>
                    <a:pt x="2513584" y="1043940"/>
                    <a:pt x="1619250" y="1043940"/>
                  </a:cubicBezTo>
                  <a:cubicBezTo>
                    <a:pt x="724916" y="1043940"/>
                    <a:pt x="0" y="810260"/>
                    <a:pt x="0" y="52197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B66B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238500" cy="1072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RunTime Terror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48940" y="429387"/>
            <a:ext cx="1076706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RESEARCH AND REFERENCES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5800" y="2137410"/>
            <a:ext cx="137160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C3F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DETAILS / LINKS OF REFERENCE AND RESEARCH WORK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3017520"/>
            <a:ext cx="16322040" cy="1303020"/>
            <a:chOff x="0" y="0"/>
            <a:chExt cx="21762720" cy="1737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6272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762721">
                  <a:moveTo>
                    <a:pt x="0" y="173736"/>
                  </a:moveTo>
                  <a:cubicBezTo>
                    <a:pt x="0" y="77724"/>
                    <a:pt x="77724" y="0"/>
                    <a:pt x="173736" y="0"/>
                  </a:cubicBezTo>
                  <a:lnTo>
                    <a:pt x="21588985" y="0"/>
                  </a:lnTo>
                  <a:cubicBezTo>
                    <a:pt x="21684997" y="0"/>
                    <a:pt x="21762721" y="77724"/>
                    <a:pt x="21762721" y="173736"/>
                  </a:cubicBezTo>
                  <a:lnTo>
                    <a:pt x="21762721" y="1563624"/>
                  </a:lnTo>
                  <a:cubicBezTo>
                    <a:pt x="21762721" y="1659636"/>
                    <a:pt x="21684997" y="1737360"/>
                    <a:pt x="21588985" y="1737360"/>
                  </a:cubicBezTo>
                  <a:lnTo>
                    <a:pt x="173736" y="1737360"/>
                  </a:lnTo>
                  <a:cubicBezTo>
                    <a:pt x="77724" y="1737360"/>
                    <a:pt x="0" y="1659636"/>
                    <a:pt x="0" y="1563624"/>
                  </a:cubicBezTo>
                  <a:close/>
                </a:path>
              </a:pathLst>
            </a:custGeom>
            <a:solidFill>
              <a:srgbClr val="EAF1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5860" y="3360420"/>
            <a:ext cx="617220" cy="617220"/>
            <a:chOff x="0" y="0"/>
            <a:chExt cx="822960" cy="82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3360420"/>
            <a:ext cx="617220" cy="617220"/>
            <a:chOff x="0" y="0"/>
            <a:chExt cx="82296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25980" y="3017520"/>
            <a:ext cx="14813280" cy="1303020"/>
            <a:chOff x="0" y="0"/>
            <a:chExt cx="19751040" cy="1737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751039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514" r="0" b="-17151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75104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ABDM (Ayushman Bharat Digital Mission) Building Blocks &amp; Health Data Management Guidelines.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4594860"/>
            <a:ext cx="16322040" cy="1303020"/>
            <a:chOff x="0" y="0"/>
            <a:chExt cx="21762720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6272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762721">
                  <a:moveTo>
                    <a:pt x="0" y="173736"/>
                  </a:moveTo>
                  <a:cubicBezTo>
                    <a:pt x="0" y="77724"/>
                    <a:pt x="77724" y="0"/>
                    <a:pt x="173736" y="0"/>
                  </a:cubicBezTo>
                  <a:lnTo>
                    <a:pt x="21588985" y="0"/>
                  </a:lnTo>
                  <a:cubicBezTo>
                    <a:pt x="21684997" y="0"/>
                    <a:pt x="21762721" y="77724"/>
                    <a:pt x="21762721" y="173736"/>
                  </a:cubicBezTo>
                  <a:lnTo>
                    <a:pt x="21762721" y="1563624"/>
                  </a:lnTo>
                  <a:cubicBezTo>
                    <a:pt x="21762721" y="1659636"/>
                    <a:pt x="21684997" y="1737360"/>
                    <a:pt x="21588985" y="1737360"/>
                  </a:cubicBezTo>
                  <a:lnTo>
                    <a:pt x="173736" y="1737360"/>
                  </a:lnTo>
                  <a:cubicBezTo>
                    <a:pt x="77724" y="1737360"/>
                    <a:pt x="0" y="1659636"/>
                    <a:pt x="0" y="1563624"/>
                  </a:cubicBezTo>
                  <a:close/>
                </a:path>
              </a:pathLst>
            </a:custGeom>
            <a:solidFill>
              <a:srgbClr val="EAF1F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5860" y="4937760"/>
            <a:ext cx="617220" cy="617220"/>
            <a:chOff x="0" y="0"/>
            <a:chExt cx="82296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4937760"/>
            <a:ext cx="617220" cy="617220"/>
            <a:chOff x="0" y="0"/>
            <a:chExt cx="822960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125980" y="4594860"/>
            <a:ext cx="14813280" cy="1303020"/>
            <a:chOff x="0" y="0"/>
            <a:chExt cx="19751040" cy="1737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751039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514" r="0" b="-17151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75104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MoHFW Rural Health Statistics (RHS) Report on PHC Specialist Shortages &amp; Referral Friction.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6172200"/>
            <a:ext cx="16322040" cy="1303020"/>
            <a:chOff x="0" y="0"/>
            <a:chExt cx="21762720" cy="1737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6272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762721">
                  <a:moveTo>
                    <a:pt x="0" y="173736"/>
                  </a:moveTo>
                  <a:cubicBezTo>
                    <a:pt x="0" y="77724"/>
                    <a:pt x="77724" y="0"/>
                    <a:pt x="173736" y="0"/>
                  </a:cubicBezTo>
                  <a:lnTo>
                    <a:pt x="21588985" y="0"/>
                  </a:lnTo>
                  <a:cubicBezTo>
                    <a:pt x="21684997" y="0"/>
                    <a:pt x="21762721" y="77724"/>
                    <a:pt x="21762721" y="173736"/>
                  </a:cubicBezTo>
                  <a:lnTo>
                    <a:pt x="21762721" y="1563624"/>
                  </a:lnTo>
                  <a:cubicBezTo>
                    <a:pt x="21762721" y="1659636"/>
                    <a:pt x="21684997" y="1737360"/>
                    <a:pt x="21588985" y="1737360"/>
                  </a:cubicBezTo>
                  <a:lnTo>
                    <a:pt x="173736" y="1737360"/>
                  </a:lnTo>
                  <a:cubicBezTo>
                    <a:pt x="77724" y="1737360"/>
                    <a:pt x="0" y="1659636"/>
                    <a:pt x="0" y="1563624"/>
                  </a:cubicBezTo>
                  <a:close/>
                </a:path>
              </a:pathLst>
            </a:custGeom>
            <a:solidFill>
              <a:srgbClr val="EAF1F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5860" y="6515100"/>
            <a:ext cx="617220" cy="617220"/>
            <a:chOff x="0" y="0"/>
            <a:chExt cx="822960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65860" y="6515100"/>
            <a:ext cx="617220" cy="617220"/>
            <a:chOff x="0" y="0"/>
            <a:chExt cx="82296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125980" y="6172200"/>
            <a:ext cx="14813280" cy="1303020"/>
            <a:chOff x="0" y="0"/>
            <a:chExt cx="19751040" cy="1737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751039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514" r="0" b="-17151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975104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HL7 FHIR (Fast Healthcare Interoperability Resources) Standards for Electronic Health Records.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7749540"/>
            <a:ext cx="16322040" cy="1303020"/>
            <a:chOff x="0" y="0"/>
            <a:chExt cx="21762720" cy="1737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76272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762721">
                  <a:moveTo>
                    <a:pt x="0" y="173736"/>
                  </a:moveTo>
                  <a:cubicBezTo>
                    <a:pt x="0" y="77724"/>
                    <a:pt x="77724" y="0"/>
                    <a:pt x="173736" y="0"/>
                  </a:cubicBezTo>
                  <a:lnTo>
                    <a:pt x="21588985" y="0"/>
                  </a:lnTo>
                  <a:cubicBezTo>
                    <a:pt x="21684997" y="0"/>
                    <a:pt x="21762721" y="77724"/>
                    <a:pt x="21762721" y="173736"/>
                  </a:cubicBezTo>
                  <a:lnTo>
                    <a:pt x="21762721" y="1563624"/>
                  </a:lnTo>
                  <a:cubicBezTo>
                    <a:pt x="21762721" y="1659636"/>
                    <a:pt x="21684997" y="1737360"/>
                    <a:pt x="21588985" y="1737360"/>
                  </a:cubicBezTo>
                  <a:lnTo>
                    <a:pt x="173736" y="1737360"/>
                  </a:lnTo>
                  <a:cubicBezTo>
                    <a:pt x="77724" y="1737360"/>
                    <a:pt x="0" y="1659636"/>
                    <a:pt x="0" y="1563624"/>
                  </a:cubicBezTo>
                  <a:close/>
                </a:path>
              </a:pathLst>
            </a:custGeom>
            <a:solidFill>
              <a:srgbClr val="EAF1F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5860" y="8092440"/>
            <a:ext cx="617220" cy="617220"/>
            <a:chOff x="0" y="0"/>
            <a:chExt cx="82296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5860" y="8092440"/>
            <a:ext cx="617220" cy="617220"/>
            <a:chOff x="0" y="0"/>
            <a:chExt cx="822960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8229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C3F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25980" y="7749540"/>
            <a:ext cx="14813280" cy="1303020"/>
            <a:chOff x="0" y="0"/>
            <a:chExt cx="19751040" cy="1737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751039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514" r="0" b="-17151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975104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Field research on frontline worker (ASHA/ANM) digital adoption in Maharashtra Sub-Centres.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0" y="9683496"/>
            <a:ext cx="18287543" cy="603504"/>
            <a:chOff x="0" y="0"/>
            <a:chExt cx="24383390" cy="8046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383364" cy="804672"/>
            </a:xfrm>
            <a:custGeom>
              <a:avLst/>
              <a:gdLst/>
              <a:ahLst/>
              <a:cxnLst/>
              <a:rect r="r" b="b" t="t" l="l"/>
              <a:pathLst>
                <a:path h="80467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75CA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11480" y="9858289"/>
            <a:ext cx="10972800" cy="253917"/>
            <a:chOff x="0" y="0"/>
            <a:chExt cx="14630400" cy="33855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00" cy="338554"/>
            </a:xfrm>
            <a:custGeom>
              <a:avLst/>
              <a:gdLst/>
              <a:ahLst/>
              <a:cxnLst/>
              <a:rect r="r" b="b" t="t" l="l"/>
              <a:pathLst>
                <a:path h="33855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38554"/>
                  </a:lnTo>
                  <a:lnTo>
                    <a:pt x="0" y="3385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2033" r="0" b="-79203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4630400" cy="367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@SIH Idea submission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915943" y="9683496"/>
            <a:ext cx="960120" cy="603504"/>
            <a:chOff x="0" y="0"/>
            <a:chExt cx="1280160" cy="8046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80160" cy="804672"/>
            </a:xfrm>
            <a:custGeom>
              <a:avLst/>
              <a:gdLst/>
              <a:ahLst/>
              <a:cxnLst/>
              <a:rect r="r" b="b" t="t" l="l"/>
              <a:pathLst>
                <a:path h="804672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647" t="0" r="-30647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280160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5095710" y="0"/>
            <a:ext cx="3182308" cy="1403642"/>
          </a:xfrm>
          <a:custGeom>
            <a:avLst/>
            <a:gdLst/>
            <a:ahLst/>
            <a:cxnLst/>
            <a:rect r="r" b="b" t="t" l="l"/>
            <a:pathLst>
              <a:path h="1403642" w="3182308">
                <a:moveTo>
                  <a:pt x="0" y="0"/>
                </a:moveTo>
                <a:lnTo>
                  <a:pt x="3182308" y="0"/>
                </a:lnTo>
                <a:lnTo>
                  <a:pt x="3182308" y="1403642"/>
                </a:lnTo>
                <a:lnTo>
                  <a:pt x="0" y="1403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19" r="0" b="-231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DAHTX0jpyTg</dc:identifier>
  <dcterms:modified xsi:type="dcterms:W3CDTF">2011-08-01T06:04:30Z</dcterms:modified>
  <cp:revision>1</cp:revision>
  <dc:title>RunTime_Terror_SIH2026.pptx</dc:title>
</cp:coreProperties>
</file>