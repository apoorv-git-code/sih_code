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62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96F876A-5FD6-A616-ACCB-D939A8598ED7}" v="3" dt="2026-09-02T07:41:42.111"/>
    <p1510:client id="{CA89FF39-6026-4FE6-A8E0-4E0CC80E7C5A}" v="141" dt="2026-09-02T18:23:43.21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4" d="100"/>
          <a:sy n="74" d="100"/>
        </p:scale>
        <p:origin x="1013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D9D3F34-8F37-4A88-8FF3-4DFE682B53EE}" type="datetimeFigureOut">
              <a:rPr lang="en-IN" smtClean="0"/>
              <a:t>02-09-2026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748541B-AB31-481F-AFE9-E4AFFED68E1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650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CCCB964E-6BE8-A6C6-EE4C-7711A82059E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18006"/>
            <a:ext cx="12224180" cy="68399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823686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1051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3" name="Oval 2"/>
          <p:cNvSpPr/>
          <p:nvPr/>
        </p:nvSpPr>
        <p:spPr>
          <a:xfrm>
            <a:off x="274320" y="256032"/>
            <a:ext cx="160020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0" i="0" dirty="0" err="1">
                <a:solidFill>
                  <a:srgbClr val="404040"/>
                </a:solidFill>
                <a:latin typeface="Calibri"/>
              </a:rPr>
              <a:t>RunTime</a:t>
            </a:r>
            <a:r>
              <a:rPr sz="1100" b="0" i="0" dirty="0">
                <a:solidFill>
                  <a:srgbClr val="404040"/>
                </a:solidFill>
                <a:latin typeface="Calibri"/>
              </a:rPr>
              <a:t> Terror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92608"/>
            <a:ext cx="9418320" cy="55399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400" b="1" i="0" dirty="0">
                <a:solidFill>
                  <a:srgbClr val="1D4E4A"/>
                </a:solidFill>
                <a:latin typeface="Georgia" panose="02040502050405020303" pitchFamily="18" charset="0"/>
              </a:rPr>
              <a:t>  </a:t>
            </a:r>
            <a:r>
              <a:rPr lang="en-US" sz="3600" b="1" i="0" dirty="0">
                <a:solidFill>
                  <a:schemeClr val="tx2"/>
                </a:solidFill>
                <a:latin typeface="Georgia" panose="02040502050405020303" pitchFamily="18" charset="0"/>
              </a:rPr>
              <a:t>GRAM AROGYA CONNECT</a:t>
            </a:r>
            <a:endParaRPr sz="2400" b="1" i="0" dirty="0">
              <a:solidFill>
                <a:schemeClr val="tx2"/>
              </a:solidFill>
              <a:latin typeface="Calibri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7178040" y="2551176"/>
            <a:ext cx="4416552" cy="149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78040" y="3209544"/>
            <a:ext cx="4416552" cy="149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7178040" y="4526280"/>
            <a:ext cx="4416552" cy="149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78040" y="5184648"/>
            <a:ext cx="4416552" cy="14914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969" b="0" i="0" dirty="0">
                <a:solidFill>
                  <a:srgbClr val="444444"/>
                </a:solidFill>
                <a:latin typeface="Calibri"/>
              </a:rPr>
              <a:t>.</a:t>
            </a:r>
          </a:p>
        </p:txBody>
      </p:sp>
      <p:sp>
        <p:nvSpPr>
          <p:cNvPr id="54" name="Rectangle 53"/>
          <p:cNvSpPr/>
          <p:nvPr/>
        </p:nvSpPr>
        <p:spPr>
          <a:xfrm>
            <a:off x="305" y="6464888"/>
            <a:ext cx="12191695" cy="402336"/>
          </a:xfrm>
          <a:prstGeom prst="rect">
            <a:avLst/>
          </a:prstGeom>
          <a:solidFill>
            <a:srgbClr val="17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TextBox 54"/>
          <p:cNvSpPr txBox="1"/>
          <p:nvPr/>
        </p:nvSpPr>
        <p:spPr>
          <a:xfrm>
            <a:off x="274320" y="6572193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@SIH Idea submission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1277295" y="6455664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E9FEFF3-DF22-0EC4-E19D-E9DF9FED1986}"/>
              </a:ext>
            </a:extLst>
          </p:cNvPr>
          <p:cNvSpPr txBox="1"/>
          <p:nvPr/>
        </p:nvSpPr>
        <p:spPr>
          <a:xfrm>
            <a:off x="519573" y="1654350"/>
            <a:ext cx="527787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Voice-First Interface</a:t>
            </a:r>
            <a:br>
              <a:rPr lang="en-IN" sz="2400" dirty="0"/>
            </a:br>
            <a:r>
              <a:rPr lang="en-IN" sz="2400" i="1" dirty="0"/>
              <a:t>Local language interaction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Sunita Tai AI Guide</a:t>
            </a:r>
            <a:br>
              <a:rPr lang="en-IN" sz="2400" dirty="0"/>
            </a:br>
            <a:r>
              <a:rPr lang="en-IN" sz="2400" i="1" dirty="0"/>
              <a:t>AI-powered healthcare assistance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Instant Teleconsultation</a:t>
            </a:r>
            <a:br>
              <a:rPr lang="en-IN" sz="2400" dirty="0"/>
            </a:br>
            <a:r>
              <a:rPr lang="en-IN" sz="2400" i="1" dirty="0"/>
              <a:t>Remote doctor consultation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Smart Appointments</a:t>
            </a:r>
            <a:br>
              <a:rPr lang="en-IN" sz="2400" dirty="0"/>
            </a:br>
            <a:r>
              <a:rPr lang="en-IN" sz="2400" i="1" dirty="0"/>
              <a:t>Booking &amp; live queue tracking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Offline Healthcare Access</a:t>
            </a:r>
            <a:br>
              <a:rPr lang="en-IN" sz="2400" dirty="0"/>
            </a:br>
            <a:r>
              <a:rPr lang="en-IN" sz="2400" i="1" dirty="0"/>
              <a:t>Works without internet</a:t>
            </a:r>
            <a:r>
              <a:rPr lang="en-IN" sz="2400" dirty="0"/>
              <a:t> </a:t>
            </a:r>
          </a:p>
          <a:p>
            <a:pPr marL="342900" lvl="0" indent="-342900">
              <a:buFont typeface="Arial" panose="020B0604020202020204" pitchFamily="34" charset="0"/>
              <a:buChar char="•"/>
            </a:pPr>
            <a:r>
              <a:rPr lang="en-IN" sz="2400" b="1" dirty="0"/>
              <a:t>QR Health Passport</a:t>
            </a:r>
            <a:br>
              <a:rPr lang="en-IN" sz="2400" dirty="0"/>
            </a:br>
            <a:r>
              <a:rPr lang="en-IN" sz="2400" i="1" dirty="0"/>
              <a:t>ABDM/FHIR-enabled patient journey</a:t>
            </a:r>
            <a:endParaRPr lang="en-IN" sz="2400" dirty="0"/>
          </a:p>
          <a:p>
            <a:endParaRPr lang="en-IN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AFFC7C0F-1231-2C06-9158-A56587D482F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29663" y="1372043"/>
            <a:ext cx="4913305" cy="4587953"/>
          </a:xfrm>
          <a:prstGeom prst="rect">
            <a:avLst/>
          </a:prstGeom>
        </p:spPr>
      </p:pic>
      <p:sp>
        <p:nvSpPr>
          <p:cNvPr id="61" name="TextBox 60">
            <a:extLst>
              <a:ext uri="{FF2B5EF4-FFF2-40B4-BE49-F238E27FC236}">
                <a16:creationId xmlns:a16="http://schemas.microsoft.com/office/drawing/2014/main" id="{13A4F136-BC3C-6643-4ECE-EC77D31C2D43}"/>
              </a:ext>
            </a:extLst>
          </p:cNvPr>
          <p:cNvSpPr txBox="1"/>
          <p:nvPr/>
        </p:nvSpPr>
        <p:spPr>
          <a:xfrm>
            <a:off x="519573" y="1063797"/>
            <a:ext cx="527787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b="1" dirty="0">
                <a:solidFill>
                  <a:schemeClr val="accent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PROPOSED SOLUTION</a:t>
            </a:r>
            <a:endParaRPr lang="en-IN" sz="2800" b="1" dirty="0">
              <a:solidFill>
                <a:schemeClr val="accent2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5" name="Picture 64">
            <a:extLst>
              <a:ext uri="{FF2B5EF4-FFF2-40B4-BE49-F238E27FC236}">
                <a16:creationId xmlns:a16="http://schemas.microsoft.com/office/drawing/2014/main" id="{8A004D9F-8396-388E-C831-1B4CB98BFEC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28565" y="-47310"/>
            <a:ext cx="1863436" cy="92368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0" grpId="0"/>
      <p:bldP spid="43" grpId="0"/>
      <p:bldP spid="49" grpId="0"/>
      <p:bldP spid="5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val 2"/>
          <p:cNvSpPr/>
          <p:nvPr/>
        </p:nvSpPr>
        <p:spPr>
          <a:xfrm>
            <a:off x="274320" y="256032"/>
            <a:ext cx="160020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RunTime Terror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92608"/>
            <a:ext cx="7178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 dirty="0">
                <a:solidFill>
                  <a:srgbClr val="1A1A1A"/>
                </a:solidFill>
                <a:latin typeface="Georgia"/>
              </a:rPr>
              <a:t>TECHNICAL APPROACH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23243"/>
            <a:ext cx="5486400" cy="430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800" b="1" i="0" dirty="0">
                <a:solidFill>
                  <a:srgbClr val="1C3F6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TO BE USED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861233"/>
            <a:ext cx="4485815" cy="432656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  <a:spcAft>
                <a:spcPts val="1200"/>
              </a:spcAft>
            </a:pPr>
            <a:r>
              <a:rPr sz="2000" b="1" i="0" dirty="0">
                <a:solidFill>
                  <a:srgbClr val="1A1A1A"/>
                </a:solidFill>
                <a:latin typeface="Calibri"/>
              </a:rPr>
              <a:t>•  Frontend &amp; Mobile: 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Cross-platform Web/PWA (Tailwind CSS, HTML5) optimized for low-cost Android phones.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 i="0" dirty="0">
                <a:solidFill>
                  <a:srgbClr val="1A1A1A"/>
                </a:solidFill>
                <a:latin typeface="Calibri"/>
              </a:rPr>
              <a:t>•  Voice &amp; AI Engine: 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Web Speech API for multilingual speech-to-text/TTS; local OCR (Tesseract.js) for ID scanning.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 i="0" dirty="0">
                <a:solidFill>
                  <a:srgbClr val="1A1A1A"/>
                </a:solidFill>
                <a:latin typeface="Calibri"/>
              </a:rPr>
              <a:t>•  Data &amp; Interoperability: 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ABDM API integrations, ABHA ID linkage, HL7 FHIR record schemas.</a:t>
            </a:r>
          </a:p>
          <a:p>
            <a:pPr>
              <a:lnSpc>
                <a:spcPct val="105000"/>
              </a:lnSpc>
              <a:spcAft>
                <a:spcPts val="1200"/>
              </a:spcAft>
            </a:pPr>
            <a:r>
              <a:rPr sz="2000" b="1" i="0" dirty="0">
                <a:solidFill>
                  <a:srgbClr val="1A1A1A"/>
                </a:solidFill>
                <a:latin typeface="Calibri"/>
              </a:rPr>
              <a:t>•  Offline Architecture: </a:t>
            </a:r>
            <a:r>
              <a:rPr sz="2000" b="0" i="0" dirty="0" err="1">
                <a:solidFill>
                  <a:srgbClr val="1A1A1A"/>
                </a:solidFill>
                <a:latin typeface="Calibri"/>
              </a:rPr>
              <a:t>IndexedDB</a:t>
            </a:r>
            <a:r>
              <a:rPr sz="2000" b="0" i="0" dirty="0">
                <a:solidFill>
                  <a:srgbClr val="1A1A1A"/>
                </a:solidFill>
                <a:latin typeface="Calibri"/>
              </a:rPr>
              <a:t> local caching with automated delta-synchronization.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60003"/>
            <a:ext cx="12191695" cy="402336"/>
          </a:xfrm>
          <a:prstGeom prst="rect">
            <a:avLst/>
          </a:prstGeom>
          <a:solidFill>
            <a:srgbClr val="17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572193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@SIH Idea 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55664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D10158C9-3694-A055-5DC4-ABCB5234C1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47" y="1050232"/>
            <a:ext cx="5340082" cy="527805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500D4FD-49E9-486F-559D-947E40537C1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42788" y="-17979"/>
            <a:ext cx="2209800" cy="10953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9" name="Picture 18">
            <a:extLst>
              <a:ext uri="{FF2B5EF4-FFF2-40B4-BE49-F238E27FC236}">
                <a16:creationId xmlns:a16="http://schemas.microsoft.com/office/drawing/2014/main" id="{BA0785A2-C80B-6180-39C6-89D973A2ED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037379" y="0"/>
            <a:ext cx="2154621" cy="106802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Oval 2"/>
          <p:cNvSpPr/>
          <p:nvPr/>
        </p:nvSpPr>
        <p:spPr>
          <a:xfrm>
            <a:off x="274320" y="256032"/>
            <a:ext cx="1600200" cy="502920"/>
          </a:xfrm>
          <a:prstGeom prst="ellipse">
            <a:avLst/>
          </a:prstGeom>
          <a:solidFill>
            <a:srgbClr val="FFFFFF"/>
          </a:solidFill>
          <a:ln w="19050">
            <a:solidFill>
              <a:srgbClr val="7B66B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0" rIns="0" rtlCol="0" anchor="ctr"/>
          <a:lstStyle/>
          <a:p>
            <a:pPr algn="ctr"/>
            <a:r>
              <a:rPr sz="1100" b="0" i="0">
                <a:solidFill>
                  <a:srgbClr val="404040"/>
                </a:solidFill>
                <a:latin typeface="Calibri"/>
              </a:rPr>
              <a:t>RunTime Terror</a:t>
            </a:r>
          </a:p>
        </p:txBody>
      </p:sp>
      <p:sp>
        <p:nvSpPr>
          <p:cNvPr id="4" name="Oval 3"/>
          <p:cNvSpPr/>
          <p:nvPr/>
        </p:nvSpPr>
        <p:spPr>
          <a:xfrm>
            <a:off x="11249863" y="201168"/>
            <a:ext cx="621792" cy="621792"/>
          </a:xfrm>
          <a:prstGeom prst="ellipse">
            <a:avLst/>
          </a:prstGeom>
          <a:solidFill>
            <a:srgbClr val="EAF1FA"/>
          </a:solidFill>
          <a:ln w="19050">
            <a:solidFill>
              <a:srgbClr val="1C3F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0" tIns="0" rIns="0" bIns="0" rtlCol="0" anchor="ctr"/>
          <a:lstStyle/>
          <a:p>
            <a:pPr algn="ctr"/>
            <a:r>
              <a:rPr sz="1200" b="1" i="0">
                <a:solidFill>
                  <a:srgbClr val="E87A2D"/>
                </a:solidFill>
                <a:latin typeface="Calibri"/>
              </a:rPr>
              <a:t>SIH</a:t>
            </a:r>
          </a:p>
          <a:p>
            <a:pPr algn="ctr"/>
            <a:r>
              <a:rPr sz="1000" b="1" i="0">
                <a:solidFill>
                  <a:srgbClr val="3C8D5A"/>
                </a:solidFill>
                <a:latin typeface="Calibri"/>
              </a:rPr>
              <a:t>2026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10751" y="219456"/>
            <a:ext cx="19659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C3F6E"/>
                </a:solidFill>
                <a:latin typeface="Calibri"/>
              </a:rPr>
              <a:t>SMART INDIA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210751" y="420624"/>
            <a:ext cx="1965960" cy="62179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r"/>
            <a:r>
              <a:rPr sz="900" b="1" i="0">
                <a:solidFill>
                  <a:srgbClr val="1C3F6E"/>
                </a:solidFill>
                <a:latin typeface="Calibri"/>
              </a:rPr>
              <a:t>HACKATHON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65960" y="292608"/>
            <a:ext cx="7178040" cy="6400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2800" b="1" i="0">
                <a:solidFill>
                  <a:srgbClr val="1A1A1A"/>
                </a:solidFill>
                <a:latin typeface="Georgia"/>
              </a:rPr>
              <a:t>RESEARCH AND REFERENCES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1463040"/>
            <a:ext cx="9144000" cy="3200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1" i="0">
                <a:solidFill>
                  <a:srgbClr val="1C3F6E"/>
                </a:solidFill>
                <a:latin typeface="Calibri"/>
              </a:rPr>
              <a:t>DETAILS / LINKS OF REFERENCE AND RESEARCH WORK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01168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Oval 9"/>
          <p:cNvSpPr/>
          <p:nvPr/>
        </p:nvSpPr>
        <p:spPr>
          <a:xfrm>
            <a:off x="777240" y="224028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777240" y="224028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C3F6E"/>
                </a:solidFill>
                <a:latin typeface="Calibri"/>
              </a:rPr>
              <a:t>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011680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ABDM (Ayushman Bharat Digital Mission) Building Blocks &amp; Health Data Management Guidelines.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306324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Oval 13"/>
          <p:cNvSpPr/>
          <p:nvPr/>
        </p:nvSpPr>
        <p:spPr>
          <a:xfrm>
            <a:off x="777240" y="329184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C3F6E"/>
                </a:solidFill>
                <a:latin typeface="Calibri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3063240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MoHFW Rural Health Statistics (RHS) Report on PHC Specialist Shortages &amp; Referral Friction.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411480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Oval 17"/>
          <p:cNvSpPr/>
          <p:nvPr/>
        </p:nvSpPr>
        <p:spPr>
          <a:xfrm>
            <a:off x="777240" y="434340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777240" y="434340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C3F6E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417320" y="4114800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HL7 FHIR (Fast Healthcare Interoperability Resources) Standards for Electronic Health Records.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48640" y="5166360"/>
            <a:ext cx="10881360" cy="868680"/>
          </a:xfrm>
          <a:prstGeom prst="roundRect">
            <a:avLst>
              <a:gd name="adj" fmla="val 10000"/>
            </a:avLst>
          </a:prstGeom>
          <a:solidFill>
            <a:srgbClr val="EAF1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Oval 21"/>
          <p:cNvSpPr/>
          <p:nvPr/>
        </p:nvSpPr>
        <p:spPr>
          <a:xfrm>
            <a:off x="777240" y="5394960"/>
            <a:ext cx="411480" cy="411480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77240" y="5394960"/>
            <a:ext cx="411480" cy="4114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ctr"/>
            <a:r>
              <a:rPr sz="1500" b="1" i="0">
                <a:solidFill>
                  <a:srgbClr val="1C3F6E"/>
                </a:solidFill>
                <a:latin typeface="Calibri"/>
              </a:rPr>
              <a:t>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417320" y="5166360"/>
            <a:ext cx="9875520" cy="86868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sz="1350" b="0" i="0">
                <a:solidFill>
                  <a:srgbClr val="1A1A1A"/>
                </a:solidFill>
                <a:latin typeface="Calibri"/>
              </a:rPr>
              <a:t>Field research on frontline worker (ASHA/ANM) digital adoption in Maharashtra Sub-Centres.</a:t>
            </a:r>
          </a:p>
        </p:txBody>
      </p:sp>
      <p:sp>
        <p:nvSpPr>
          <p:cNvPr id="25" name="Rectangle 24"/>
          <p:cNvSpPr/>
          <p:nvPr/>
        </p:nvSpPr>
        <p:spPr>
          <a:xfrm>
            <a:off x="0" y="6455664"/>
            <a:ext cx="12191695" cy="402336"/>
          </a:xfrm>
          <a:prstGeom prst="rect">
            <a:avLst/>
          </a:prstGeom>
          <a:solidFill>
            <a:srgbClr val="175CA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" name="TextBox 25"/>
          <p:cNvSpPr txBox="1"/>
          <p:nvPr/>
        </p:nvSpPr>
        <p:spPr>
          <a:xfrm>
            <a:off x="274320" y="6572193"/>
            <a:ext cx="7315200" cy="169277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/>
            <a:r>
              <a:rPr sz="1100" b="0" i="0" dirty="0">
                <a:solidFill>
                  <a:srgbClr val="FFFFFF"/>
                </a:solidFill>
                <a:latin typeface="Calibri"/>
              </a:rPr>
              <a:t>@SIH Idea submission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77295" y="6455664"/>
            <a:ext cx="640080" cy="402336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r"/>
            <a:r>
              <a:rPr sz="1100" b="1" i="0">
                <a:solidFill>
                  <a:srgbClr val="FFFFFF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722</TotalTime>
  <Words>239</Words>
  <Application>Microsoft Office PowerPoint</Application>
  <PresentationFormat>Widescreen</PresentationFormat>
  <Paragraphs>41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2" baseType="lpstr">
      <vt:lpstr>Aptos</vt:lpstr>
      <vt:lpstr>Arial</vt:lpstr>
      <vt:lpstr>Calibri</vt:lpstr>
      <vt:lpstr>Georgia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BHOOVI</dc:creator>
  <cp:keywords/>
  <dc:description>generated using python-pptx</dc:description>
  <cp:lastModifiedBy>Bhoovi Verma</cp:lastModifiedBy>
  <cp:revision>2</cp:revision>
  <dcterms:created xsi:type="dcterms:W3CDTF">2013-01-27T09:14:16Z</dcterms:created>
  <dcterms:modified xsi:type="dcterms:W3CDTF">2026-09-02T18:27:29Z</dcterms:modified>
  <cp:category/>
</cp:coreProperties>
</file>